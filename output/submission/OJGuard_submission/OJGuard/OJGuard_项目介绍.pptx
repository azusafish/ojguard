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1B34BB-7365-498C-BBF9-04CD055C81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AC6940-E405-4520-8D51-39D4992AC0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767FFF-E700-4DCA-9F0B-E2D540B4F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F9F919-9E56-4309-AD4A-4D10F2DA8B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8E014-0502-402A-9174-9C857E242F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4ECED-A5C5-4C01-8652-F34E5F5829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B831ED-5B71-4729-AF1F-621E5E0C5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5B5B4-1388-474E-94C5-B841F65A5C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C6F6CD-04A0-4A2F-98E4-627C6AA39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FDE80-66CD-4A98-8075-5E74D3C093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8BBBD-1550-426C-8BF1-CB4D2F9DA9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14D1D4-8507-450B-95B4-455D4D582C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S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S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692640" y="182880"/>
            <a:ext cx="2102760" cy="2102760"/>
          </a:xfrm>
          <a:prstGeom prst="ellipse">
            <a:avLst/>
          </a:prstGeom>
          <a:solidFill>
            <a:srgbClr val="2A315C">
              <a:alpha val="85000"/>
            </a:srgbClr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28600" y="4892040"/>
            <a:ext cx="1416960" cy="1416960"/>
          </a:xfrm>
          <a:prstGeom prst="ellipse">
            <a:avLst/>
          </a:prstGeom>
          <a:solidFill>
            <a:srgbClr val="262D57">
              <a:alpha val="90000"/>
            </a:srgbClr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469880" y="4617720"/>
            <a:ext cx="1416960" cy="1416960"/>
          </a:xfrm>
          <a:prstGeom prst="ellipse">
            <a:avLst/>
          </a:prstGeom>
          <a:solidFill>
            <a:srgbClr val="303664">
              <a:alpha val="82000"/>
            </a:srgbClr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2344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GOAI </a:t>
            </a:r>
            <a:r>
              <a:rPr lang="zh-CN" sz="9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世界人工智能开源大赛 </a:t>
            </a:r>
            <a:r>
              <a:rPr lang="en-US" sz="9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Agent Infra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1645920"/>
            <a:ext cx="7406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OJGuard |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在线测评事故响应与可信重评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2999160"/>
            <a:ext cx="8777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AgentTeams</a:t>
            </a:r>
            <a:r>
              <a:rPr lang="en-US" sz="1200" b="1" u="none" strike="noStrike" dirty="0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 </a:t>
            </a:r>
            <a:r>
              <a:rPr lang="zh-CN" sz="1200" b="1" u="none" strike="noStrike" dirty="0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驱动调查、处置与验证</a:t>
            </a:r>
            <a:r>
              <a:rPr lang="en-US" altLang="zh-CN" sz="1200" b="1" u="none" strike="noStrike" dirty="0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, </a:t>
            </a:r>
            <a:r>
              <a:rPr lang="zh-CN" sz="1200" b="1" u="none" strike="noStrike" dirty="0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确定性工具守住事实和执行边界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0080" y="3803760"/>
            <a:ext cx="5394960" cy="360"/>
          </a:xfrm>
          <a:prstGeom prst="line">
            <a:avLst/>
          </a:prstGeom>
          <a:ln w="15120">
            <a:solidFill>
              <a:srgbClr val="F9731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66691" y="5807160"/>
            <a:ext cx="3419061" cy="768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A9B2D1"/>
                </a:solidFill>
                <a:effectLst/>
                <a:uFillTx/>
                <a:latin typeface="Noto Sans CJK SC"/>
                <a:ea typeface="Noto Sans CJK SC"/>
              </a:rPr>
              <a:t>AzusaFish </a:t>
            </a:r>
            <a:r>
              <a:rPr lang="zh-CN" sz="1600" b="0" u="none" strike="noStrike" dirty="0">
                <a:solidFill>
                  <a:srgbClr val="A9B2D1"/>
                </a:solidFill>
                <a:effectLst/>
                <a:uFillTx/>
                <a:latin typeface="Noto Sans CJK SC"/>
                <a:ea typeface="Noto Sans CJK SC"/>
              </a:rPr>
              <a:t>于千恒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场景与价值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运行时回归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一次环境回归，可能改写数百人的成绩与晋级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错误率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8.3% → 41.4%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，固定种子下影响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703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名候选人、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742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条提交和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72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个晋级结果；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OJGuard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将异常转为可复核根因、冻结范围、受控批次和关闭证据。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658440" y="1508760"/>
            <a:ext cx="141696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68240" y="1618560"/>
            <a:ext cx="1197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8.3%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768240" y="1965960"/>
            <a:ext cx="1197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基线错误率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2240280" y="1508760"/>
            <a:ext cx="141696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2350080" y="1618560"/>
            <a:ext cx="1197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2626"/>
                </a:solidFill>
                <a:effectLst/>
                <a:uFillTx/>
                <a:latin typeface="Noto Sans CJK SC"/>
                <a:ea typeface="Noto Sans CJK SC"/>
              </a:rPr>
              <a:t>41.4%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2350080" y="1965960"/>
            <a:ext cx="1197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异常错误率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658440" y="2505600"/>
            <a:ext cx="141696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768240" y="2615040"/>
            <a:ext cx="1197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703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768240" y="2962800"/>
            <a:ext cx="1197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候选人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2240280" y="2505600"/>
            <a:ext cx="141696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2350080" y="2615040"/>
            <a:ext cx="1197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742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2350080" y="2962800"/>
            <a:ext cx="1197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1444680" y="3493080"/>
            <a:ext cx="141696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1554480" y="3602880"/>
            <a:ext cx="1197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72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1554480" y="3950280"/>
            <a:ext cx="1197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晋级变化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3977640" y="1481400"/>
            <a:ext cx="2925720" cy="3474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4160520" y="16916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Java Runner </a:t>
            </a: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对照实验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4160520" y="196596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相同代码 </a:t>
            </a:r>
            <a:r>
              <a:rPr lang="en-US" sz="8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相同时限 </a:t>
            </a:r>
            <a:r>
              <a:rPr lang="en-US" sz="8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不同运行镜像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4434840" y="4480560"/>
            <a:ext cx="2011680" cy="360"/>
          </a:xfrm>
          <a:prstGeom prst="line">
            <a:avLst/>
          </a:prstGeom>
          <a:ln w="126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4160520" y="245052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正常镜像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5"/>
          <p:cNvSpPr/>
          <p:nvPr/>
        </p:nvSpPr>
        <p:spPr>
          <a:xfrm>
            <a:off x="5074920" y="2331720"/>
            <a:ext cx="1416960" cy="328680"/>
          </a:xfrm>
          <a:prstGeom prst="rect">
            <a:avLst/>
          </a:prstGeom>
          <a:solidFill>
            <a:srgbClr val="059669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5166360" y="2414160"/>
            <a:ext cx="8226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3/3 OK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4160520" y="306324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退化镜像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5074920" y="2944440"/>
            <a:ext cx="1416960" cy="328680"/>
          </a:xfrm>
          <a:prstGeom prst="rect">
            <a:avLst/>
          </a:prstGeom>
          <a:solidFill>
            <a:srgbClr val="DC2626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9"/>
          <p:cNvSpPr/>
          <p:nvPr/>
        </p:nvSpPr>
        <p:spPr>
          <a:xfrm>
            <a:off x="5166360" y="3026520"/>
            <a:ext cx="8226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3/3 TLE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0"/>
          <p:cNvSpPr/>
          <p:nvPr/>
        </p:nvSpPr>
        <p:spPr>
          <a:xfrm>
            <a:off x="4160520" y="388620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1"/>
          <p:cNvSpPr/>
          <p:nvPr/>
        </p:nvSpPr>
        <p:spPr>
          <a:xfrm>
            <a:off x="4206240" y="393660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seed 20260802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2"/>
          <p:cNvSpPr/>
          <p:nvPr/>
        </p:nvSpPr>
        <p:spPr>
          <a:xfrm>
            <a:off x="5349240" y="3886200"/>
            <a:ext cx="89568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3"/>
          <p:cNvSpPr/>
          <p:nvPr/>
        </p:nvSpPr>
        <p:spPr>
          <a:xfrm>
            <a:off x="5394960" y="3936600"/>
            <a:ext cx="804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80ms limit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7315200" y="1481400"/>
            <a:ext cx="4160160" cy="3474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5"/>
          <p:cNvSpPr/>
          <p:nvPr/>
        </p:nvSpPr>
        <p:spPr>
          <a:xfrm>
            <a:off x="7543800" y="168264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事故闭环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6"/>
          <p:cNvSpPr/>
          <p:nvPr/>
        </p:nvSpPr>
        <p:spPr>
          <a:xfrm>
            <a:off x="7516440" y="214884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7562160" y="227700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TRIAGING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8"/>
          <p:cNvSpPr/>
          <p:nvPr/>
        </p:nvSpPr>
        <p:spPr>
          <a:xfrm>
            <a:off x="8503920" y="214884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8549640" y="227700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INVESTIGATING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0"/>
          <p:cNvSpPr/>
          <p:nvPr/>
        </p:nvSpPr>
        <p:spPr>
          <a:xfrm>
            <a:off x="9491400" y="214884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1"/>
          <p:cNvSpPr/>
          <p:nvPr/>
        </p:nvSpPr>
        <p:spPr>
          <a:xfrm>
            <a:off x="9537120" y="227700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IMPACT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2"/>
          <p:cNvSpPr/>
          <p:nvPr/>
        </p:nvSpPr>
        <p:spPr>
          <a:xfrm>
            <a:off x="10478880" y="214884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3"/>
          <p:cNvSpPr/>
          <p:nvPr/>
        </p:nvSpPr>
        <p:spPr>
          <a:xfrm>
            <a:off x="10524600" y="227700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PLAN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4"/>
          <p:cNvSpPr/>
          <p:nvPr/>
        </p:nvSpPr>
        <p:spPr>
          <a:xfrm>
            <a:off x="7516440" y="324612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5"/>
          <p:cNvSpPr/>
          <p:nvPr/>
        </p:nvSpPr>
        <p:spPr>
          <a:xfrm>
            <a:off x="7562160" y="337428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APPROVE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6"/>
          <p:cNvSpPr/>
          <p:nvPr/>
        </p:nvSpPr>
        <p:spPr>
          <a:xfrm>
            <a:off x="8503920" y="324612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7"/>
          <p:cNvSpPr/>
          <p:nvPr/>
        </p:nvSpPr>
        <p:spPr>
          <a:xfrm>
            <a:off x="8549640" y="337428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EXECUTE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8"/>
          <p:cNvSpPr/>
          <p:nvPr/>
        </p:nvSpPr>
        <p:spPr>
          <a:xfrm>
            <a:off x="9491400" y="324612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0080">
            <a:solidFill>
              <a:srgbClr val="DBEA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9"/>
          <p:cNvSpPr/>
          <p:nvPr/>
        </p:nvSpPr>
        <p:spPr>
          <a:xfrm>
            <a:off x="9537120" y="337428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VERIFY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0"/>
          <p:cNvSpPr/>
          <p:nvPr/>
        </p:nvSpPr>
        <p:spPr>
          <a:xfrm>
            <a:off x="10478880" y="3246120"/>
            <a:ext cx="749520" cy="4384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0080">
            <a:solidFill>
              <a:srgbClr val="DCFC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1"/>
          <p:cNvSpPr/>
          <p:nvPr/>
        </p:nvSpPr>
        <p:spPr>
          <a:xfrm>
            <a:off x="10524600" y="3374280"/>
            <a:ext cx="658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RESOLVED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2"/>
          <p:cNvSpPr/>
          <p:nvPr/>
        </p:nvSpPr>
        <p:spPr>
          <a:xfrm>
            <a:off x="8439840" y="2368080"/>
            <a:ext cx="10980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3"/>
          <p:cNvSpPr/>
          <p:nvPr/>
        </p:nvSpPr>
        <p:spPr>
          <a:xfrm>
            <a:off x="9418320" y="2368080"/>
            <a:ext cx="10944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4"/>
          <p:cNvSpPr/>
          <p:nvPr/>
        </p:nvSpPr>
        <p:spPr>
          <a:xfrm>
            <a:off x="10241280" y="2368080"/>
            <a:ext cx="23760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5"/>
          <p:cNvSpPr/>
          <p:nvPr/>
        </p:nvSpPr>
        <p:spPr>
          <a:xfrm flipH="1">
            <a:off x="7900200" y="2624040"/>
            <a:ext cx="2953440" cy="62208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6"/>
          <p:cNvSpPr/>
          <p:nvPr/>
        </p:nvSpPr>
        <p:spPr>
          <a:xfrm>
            <a:off x="8439840" y="3465360"/>
            <a:ext cx="10980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7"/>
          <p:cNvSpPr/>
          <p:nvPr/>
        </p:nvSpPr>
        <p:spPr>
          <a:xfrm>
            <a:off x="9418320" y="3465360"/>
            <a:ext cx="10944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8"/>
          <p:cNvSpPr/>
          <p:nvPr/>
        </p:nvSpPr>
        <p:spPr>
          <a:xfrm>
            <a:off x="10241280" y="3465360"/>
            <a:ext cx="237600" cy="36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9"/>
          <p:cNvSpPr/>
          <p:nvPr/>
        </p:nvSpPr>
        <p:spPr>
          <a:xfrm>
            <a:off x="7543800" y="43250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异常进入 </a:t>
            </a:r>
            <a:r>
              <a:rPr lang="en-US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PAUSED / HUMAN_REVIEW_REQUIRED</a:t>
            </a: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；关闭前覆盖率、重复、遗漏和越界全部重算。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0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1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output/evidence/incidents/runtime-regression-report.json · output/evidence/java-runtime-comparison.json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2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场景泛化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三类事故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同一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AgentTeams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闭环覆盖三类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OJ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故障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运行时回归、节点退化和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Checker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缺陷复用同一状态机、证据契约和重评引擎；新增场景主要扩展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Playbook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Adapter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658440" y="1508760"/>
            <a:ext cx="3245760" cy="4160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859680" y="173736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905400" y="178776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运行时回归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859680" y="2121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镜像变更后 </a:t>
            </a:r>
            <a:r>
              <a:rPr lang="en-US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Java </a:t>
            </a: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性能退化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85968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96912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703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96912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候选人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192024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203004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742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203004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2980800" y="2651760"/>
            <a:ext cx="712800" cy="7678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3090600" y="2761560"/>
            <a:ext cx="493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72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3090600" y="3108960"/>
            <a:ext cx="493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晋级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8"/>
          <p:cNvSpPr/>
          <p:nvPr/>
        </p:nvSpPr>
        <p:spPr>
          <a:xfrm>
            <a:off x="887040" y="3977640"/>
            <a:ext cx="2697120" cy="109440"/>
          </a:xfrm>
          <a:prstGeom prst="rect">
            <a:avLst/>
          </a:prstGeom>
          <a:solidFill>
            <a:srgbClr val="F97316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9"/>
          <p:cNvSpPr/>
          <p:nvPr/>
        </p:nvSpPr>
        <p:spPr>
          <a:xfrm>
            <a:off x="887040" y="4187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重评覆盖率 </a:t>
            </a: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100%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887040" y="44989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重复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漏评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越界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= 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1"/>
          <p:cNvSpPr/>
          <p:nvPr/>
        </p:nvSpPr>
        <p:spPr>
          <a:xfrm>
            <a:off x="2697480" y="5074920"/>
            <a:ext cx="78588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2743200" y="5125320"/>
            <a:ext cx="694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RESOLVED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4434840" y="1508760"/>
            <a:ext cx="3245760" cy="4160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4"/>
          <p:cNvSpPr/>
          <p:nvPr/>
        </p:nvSpPr>
        <p:spPr>
          <a:xfrm>
            <a:off x="4636080" y="173736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5"/>
          <p:cNvSpPr/>
          <p:nvPr/>
        </p:nvSpPr>
        <p:spPr>
          <a:xfrm>
            <a:off x="4681800" y="178776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评测节点退化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4636080" y="2121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部分节点资源或环境异常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7"/>
          <p:cNvSpPr/>
          <p:nvPr/>
        </p:nvSpPr>
        <p:spPr>
          <a:xfrm>
            <a:off x="463608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8"/>
          <p:cNvSpPr/>
          <p:nvPr/>
        </p:nvSpPr>
        <p:spPr>
          <a:xfrm>
            <a:off x="474588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118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474588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候选人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0"/>
          <p:cNvSpPr/>
          <p:nvPr/>
        </p:nvSpPr>
        <p:spPr>
          <a:xfrm>
            <a:off x="569664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1"/>
          <p:cNvSpPr/>
          <p:nvPr/>
        </p:nvSpPr>
        <p:spPr>
          <a:xfrm>
            <a:off x="580644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119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2"/>
          <p:cNvSpPr/>
          <p:nvPr/>
        </p:nvSpPr>
        <p:spPr>
          <a:xfrm>
            <a:off x="580644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3"/>
          <p:cNvSpPr/>
          <p:nvPr/>
        </p:nvSpPr>
        <p:spPr>
          <a:xfrm>
            <a:off x="6757560" y="2651760"/>
            <a:ext cx="712800" cy="7678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4"/>
          <p:cNvSpPr/>
          <p:nvPr/>
        </p:nvSpPr>
        <p:spPr>
          <a:xfrm>
            <a:off x="6867000" y="2761560"/>
            <a:ext cx="493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5"/>
          <p:cNvSpPr/>
          <p:nvPr/>
        </p:nvSpPr>
        <p:spPr>
          <a:xfrm>
            <a:off x="6867000" y="3108960"/>
            <a:ext cx="493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晋级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6"/>
          <p:cNvSpPr/>
          <p:nvPr/>
        </p:nvSpPr>
        <p:spPr>
          <a:xfrm>
            <a:off x="4663440" y="3977640"/>
            <a:ext cx="2697120" cy="109440"/>
          </a:xfrm>
          <a:prstGeom prst="rect">
            <a:avLst/>
          </a:prstGeom>
          <a:solidFill>
            <a:srgbClr val="2563EB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7"/>
          <p:cNvSpPr/>
          <p:nvPr/>
        </p:nvSpPr>
        <p:spPr>
          <a:xfrm>
            <a:off x="4663440" y="4187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重评覆盖率 </a:t>
            </a: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100%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8"/>
          <p:cNvSpPr/>
          <p:nvPr/>
        </p:nvSpPr>
        <p:spPr>
          <a:xfrm>
            <a:off x="4663440" y="44989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重复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漏评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越界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= 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9"/>
          <p:cNvSpPr/>
          <p:nvPr/>
        </p:nvSpPr>
        <p:spPr>
          <a:xfrm>
            <a:off x="6473880" y="5074920"/>
            <a:ext cx="78588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0"/>
          <p:cNvSpPr/>
          <p:nvPr/>
        </p:nvSpPr>
        <p:spPr>
          <a:xfrm>
            <a:off x="6519600" y="5125320"/>
            <a:ext cx="694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RESOLVED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1"/>
          <p:cNvSpPr/>
          <p:nvPr/>
        </p:nvSpPr>
        <p:spPr>
          <a:xfrm>
            <a:off x="8211240" y="1508760"/>
            <a:ext cx="3245760" cy="4160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2"/>
          <p:cNvSpPr/>
          <p:nvPr/>
        </p:nvSpPr>
        <p:spPr>
          <a:xfrm>
            <a:off x="8412480" y="173736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600">
            <a:solidFill>
              <a:srgbClr val="CCFBF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3"/>
          <p:cNvSpPr/>
          <p:nvPr/>
        </p:nvSpPr>
        <p:spPr>
          <a:xfrm>
            <a:off x="8458200" y="178776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Checker </a:t>
            </a:r>
            <a:r>
              <a:rPr lang="zh-CN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缺陷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4"/>
          <p:cNvSpPr/>
          <p:nvPr/>
        </p:nvSpPr>
        <p:spPr>
          <a:xfrm>
            <a:off x="8412480" y="2121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题包侧系统性判定漏洞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5"/>
          <p:cNvSpPr/>
          <p:nvPr/>
        </p:nvSpPr>
        <p:spPr>
          <a:xfrm>
            <a:off x="841248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6"/>
          <p:cNvSpPr/>
          <p:nvPr/>
        </p:nvSpPr>
        <p:spPr>
          <a:xfrm>
            <a:off x="852228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71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7"/>
          <p:cNvSpPr/>
          <p:nvPr/>
        </p:nvSpPr>
        <p:spPr>
          <a:xfrm>
            <a:off x="852228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候选人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8"/>
          <p:cNvSpPr/>
          <p:nvPr/>
        </p:nvSpPr>
        <p:spPr>
          <a:xfrm>
            <a:off x="9473040" y="2651760"/>
            <a:ext cx="89568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9"/>
          <p:cNvSpPr/>
          <p:nvPr/>
        </p:nvSpPr>
        <p:spPr>
          <a:xfrm>
            <a:off x="9582840" y="276156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73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0"/>
          <p:cNvSpPr/>
          <p:nvPr/>
        </p:nvSpPr>
        <p:spPr>
          <a:xfrm>
            <a:off x="9582840" y="3108960"/>
            <a:ext cx="67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1"/>
          <p:cNvSpPr/>
          <p:nvPr/>
        </p:nvSpPr>
        <p:spPr>
          <a:xfrm>
            <a:off x="10533960" y="2651760"/>
            <a:ext cx="712800" cy="7678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2"/>
          <p:cNvSpPr/>
          <p:nvPr/>
        </p:nvSpPr>
        <p:spPr>
          <a:xfrm>
            <a:off x="10643760" y="2761560"/>
            <a:ext cx="493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3"/>
          <p:cNvSpPr/>
          <p:nvPr/>
        </p:nvSpPr>
        <p:spPr>
          <a:xfrm>
            <a:off x="10643760" y="3108960"/>
            <a:ext cx="493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晋级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4"/>
          <p:cNvSpPr/>
          <p:nvPr/>
        </p:nvSpPr>
        <p:spPr>
          <a:xfrm>
            <a:off x="8439840" y="3977640"/>
            <a:ext cx="2697120" cy="109440"/>
          </a:xfrm>
          <a:prstGeom prst="rect">
            <a:avLst/>
          </a:prstGeom>
          <a:solidFill>
            <a:srgbClr val="0F766E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5"/>
          <p:cNvSpPr/>
          <p:nvPr/>
        </p:nvSpPr>
        <p:spPr>
          <a:xfrm>
            <a:off x="8439840" y="4187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重评覆盖率 </a:t>
            </a: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100%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6"/>
          <p:cNvSpPr/>
          <p:nvPr/>
        </p:nvSpPr>
        <p:spPr>
          <a:xfrm>
            <a:off x="8439840" y="44989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重复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漏评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越界 </a:t>
            </a:r>
            <a:r>
              <a:rPr lang="en-US" sz="7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= 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7"/>
          <p:cNvSpPr/>
          <p:nvPr/>
        </p:nvSpPr>
        <p:spPr>
          <a:xfrm>
            <a:off x="10250280" y="5074920"/>
            <a:ext cx="78588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8"/>
          <p:cNvSpPr/>
          <p:nvPr/>
        </p:nvSpPr>
        <p:spPr>
          <a:xfrm>
            <a:off x="10296000" y="5125320"/>
            <a:ext cx="694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RESOLVED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9"/>
          <p:cNvSpPr/>
          <p:nvPr/>
        </p:nvSpPr>
        <p:spPr>
          <a:xfrm>
            <a:off x="1143000" y="5897880"/>
            <a:ext cx="9875160" cy="347040"/>
          </a:xfrm>
          <a:prstGeom prst="roundRect">
            <a:avLst>
              <a:gd name="adj" fmla="val 21053"/>
            </a:avLst>
          </a:prstGeom>
          <a:solidFill>
            <a:srgbClr val="0B102E"/>
          </a:solidFill>
          <a:ln w="10080">
            <a:solidFill>
              <a:srgbClr val="0B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0"/>
          <p:cNvSpPr/>
          <p:nvPr/>
        </p:nvSpPr>
        <p:spPr>
          <a:xfrm>
            <a:off x="1344240" y="5989320"/>
            <a:ext cx="9463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共享闭环：信号归一 → 竞争假设 → 对照实验 → 范围冻结 → 审批 → 控制</a:t>
            </a: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8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灰度</a:t>
            </a: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8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全量重评 → 独立核验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1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2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output/evidence/incidents/scenario-summary.json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3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方案设计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总体架构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AgentTeams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决策，状态机约束执行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Incident Manager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读取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IncidentContext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并选择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RouteOption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；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Worker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调用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Skill / MCP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。异常进入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PAUSED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或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HUMAN_REVIEW_REQUIRED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，不让模型直接越权执行。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1874520" y="2194560"/>
            <a:ext cx="1828800" cy="360"/>
          </a:xfrm>
          <a:prstGeom prst="line">
            <a:avLst/>
          </a:prstGeom>
          <a:ln w="1512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5074920" y="2194560"/>
            <a:ext cx="1554480" cy="360"/>
          </a:xfrm>
          <a:prstGeom prst="line">
            <a:avLst/>
          </a:prstGeom>
          <a:ln w="1512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8001000" y="2194560"/>
            <a:ext cx="1554480" cy="360"/>
          </a:xfrm>
          <a:prstGeom prst="line">
            <a:avLst/>
          </a:prstGeom>
          <a:ln w="1512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5897880" y="4526280"/>
            <a:ext cx="360" cy="640080"/>
          </a:xfrm>
          <a:prstGeom prst="line">
            <a:avLst/>
          </a:prstGeom>
          <a:ln w="1512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658440" y="1600200"/>
            <a:ext cx="1325520" cy="1170000"/>
          </a:xfrm>
          <a:prstGeom prst="roundRect">
            <a:avLst>
              <a:gd name="adj" fmla="val 6250"/>
            </a:avLst>
          </a:prstGeom>
          <a:solidFill>
            <a:srgbClr val="FFF3E8"/>
          </a:solidFill>
          <a:ln w="10080">
            <a:solidFill>
              <a:srgbClr val="F8C7A0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841320" y="18288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事故输入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841320" y="21214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告警 </a:t>
            </a:r>
            <a:r>
              <a:rPr lang="en-US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日志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 </a:t>
            </a:r>
            <a:r>
              <a:rPr lang="en-US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镜像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投诉 </a:t>
            </a:r>
            <a:r>
              <a:rPr lang="en-US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题包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3703320" y="1417320"/>
            <a:ext cx="1554120" cy="155412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0080">
            <a:solidFill>
              <a:srgbClr val="B7D2F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3977640" y="1664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AgentTeams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3977640" y="201168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 Manager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6 Worker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RouteOption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6629400" y="1417320"/>
            <a:ext cx="1554120" cy="1554120"/>
          </a:xfrm>
          <a:prstGeom prst="roundRect">
            <a:avLst>
              <a:gd name="adj" fmla="val 4706"/>
            </a:avLst>
          </a:prstGeom>
          <a:solidFill>
            <a:srgbClr val="CCFBF1"/>
          </a:solidFill>
          <a:ln w="10080">
            <a:solidFill>
              <a:srgbClr val="A7F3D0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6903720" y="1664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Skill / MCP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6903720" y="2011680"/>
            <a:ext cx="987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9 Skills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12 Tools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Schema + Audit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9555480" y="1600200"/>
            <a:ext cx="1599840" cy="1170000"/>
          </a:xfrm>
          <a:prstGeom prst="roundRect">
            <a:avLst>
              <a:gd name="adj" fmla="val 6250"/>
            </a:avLst>
          </a:prstGeom>
          <a:solidFill>
            <a:srgbClr val="DCFCE7"/>
          </a:solidFill>
          <a:ln w="10080">
            <a:solidFill>
              <a:srgbClr val="BBF7D0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9829800" y="18288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可信关闭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9802440" y="2121480"/>
            <a:ext cx="1051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范围 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100%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重复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遗漏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越界 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报告可复核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1508760" y="3886200"/>
            <a:ext cx="8777880" cy="914040"/>
          </a:xfrm>
          <a:prstGeom prst="roundRect">
            <a:avLst>
              <a:gd name="adj" fmla="val 8000"/>
            </a:avLst>
          </a:prstGeom>
          <a:solidFill>
            <a:srgbClr val="0B102E"/>
          </a:solidFill>
          <a:ln w="10080">
            <a:solidFill>
              <a:srgbClr val="0B102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1783080" y="417888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安全包络：十阶段状态机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· Evidence ID · 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范围哈希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幂等键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技术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业务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关闭三道人工门禁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3429000" y="5303520"/>
            <a:ext cx="493740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080">
            <a:solidFill>
              <a:srgbClr val="D7DFF1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3657600" y="550476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模型只能选择“合法动作”；事实、执行和验证由确定性工具写入共享上下文。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5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backend/app/domain/incidents.py · backend/app/services/agent_routing.py · backend/app/services/incident_workflow.py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7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1"/>
          <p:cNvSpPr/>
          <p:nvPr/>
        </p:nvSpPr>
        <p:spPr>
          <a:xfrm>
            <a:off x="8549640" y="5139000"/>
            <a:ext cx="2605680" cy="75852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080">
            <a:solidFill>
              <a:srgbClr val="D7DFF1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2"/>
          <p:cNvSpPr/>
          <p:nvPr/>
        </p:nvSpPr>
        <p:spPr>
          <a:xfrm>
            <a:off x="8741520" y="5376600"/>
            <a:ext cx="221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职责边界：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Worker 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不能批准、不能直接操作宿主、不能扩大影响集合；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Verifier 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不复用 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结论。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3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4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agentteams/ojguard-team.yaml · materials/Agent_Identity_</a:t>
            </a:r>
            <a:r>
              <a:rPr lang="zh-CN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清单</a:t>
            </a: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.md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548640" y="1417320"/>
            <a:ext cx="2788920" cy="2834640"/>
          </a:xfrm>
          <a:prstGeom prst="roundRect">
            <a:avLst/>
          </a:prstGeom>
          <a:solidFill>
            <a:srgbClr val="111846"/>
          </a:solidFill>
          <a:ln w="12700">
            <a:solidFill>
              <a:srgbClr val="111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" y="1581912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Incident Manager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49808" y="1874520"/>
            <a:ext cx="2386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</a:rPr>
              <a:t>控制平面 / Team Leader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68096" y="2286000"/>
            <a:ext cx="2350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•  从合法 RouteOption 中选择下一步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68096" y="2761488"/>
            <a:ext cx="2350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•  读取 IncidentContext 与 Evidence refs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68096" y="3236976"/>
            <a:ext cx="2350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•  协调 Worker，但不审批、不越权执行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48640" y="4453128"/>
            <a:ext cx="2788920" cy="658368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9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694944" y="4617720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</a:rPr>
              <a:t>Manager 只做“选路由”与协同，不直接产出业务结论。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593592" y="139903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680"/>
                </a:solidFill>
              </a:rPr>
              <a:t>6 specialized workers（交付可校验产物）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593592" y="1737360"/>
            <a:ext cx="2549042" cy="1234440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DD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3593592" y="1737360"/>
            <a:ext cx="2549042" cy="73152"/>
          </a:xfrm>
          <a:prstGeom prst="rect">
            <a:avLst/>
          </a:prstGeom>
          <a:solidFill>
            <a:srgbClr val="C2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21608" y="1847088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26A20"/>
                </a:solidFill>
              </a:rPr>
              <a:t>Signal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721608" y="2121408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信号归一 / 时间线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21608" y="2496312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读取告警、日志、投诉，输出统一快照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343802" y="1737360"/>
            <a:ext cx="2549042" cy="1234440"/>
          </a:xfrm>
          <a:prstGeom prst="roundRect">
            <a:avLst/>
          </a:prstGeom>
          <a:solidFill>
            <a:srgbClr val="E1EAF7"/>
          </a:solidFill>
          <a:ln w="12700">
            <a:solidFill>
              <a:srgbClr val="BFC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6343802" y="1737360"/>
            <a:ext cx="2549042" cy="73152"/>
          </a:xfrm>
          <a:prstGeom prst="rect">
            <a:avLst/>
          </a:prstGeom>
          <a:solidFill>
            <a:srgbClr val="2D6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6471818" y="1847088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67CA"/>
                </a:solidFill>
              </a:rPr>
              <a:t>Root Cause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471818" y="2121408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竞争假设 / 对照实验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471818" y="2496312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提出可证伪假设，并执行被选中的实验合同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9094012" y="1737360"/>
            <a:ext cx="2549042" cy="1234440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B6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9094012" y="1737360"/>
            <a:ext cx="2549042" cy="73152"/>
          </a:xfrm>
          <a:prstGeom prst="rect">
            <a:avLst/>
          </a:prstGeom>
          <a:solidFill>
            <a:srgbClr val="16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222028" y="1847088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7D68"/>
                </a:solidFill>
              </a:rPr>
              <a:t>Impact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222028" y="2121408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范围冻结 / 哈希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222028" y="2496312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计算受影响提交与候选人集合，生成范围哈希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593592" y="3172968"/>
            <a:ext cx="2549042" cy="1234440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D3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3593592" y="3172968"/>
            <a:ext cx="2549042" cy="73152"/>
          </a:xfrm>
          <a:prstGeom prst="rect">
            <a:avLst/>
          </a:prstGeom>
          <a:solidFill>
            <a:srgbClr val="704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3721608" y="3282696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43C4"/>
                </a:solidFill>
              </a:rPr>
              <a:t>Planner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721608" y="3557016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计划 / 回滚 / 停止条件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721608" y="3931920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生成版本化处置计划，定义 canary、bulk 与 rollback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6343802" y="3172968"/>
            <a:ext cx="2549042" cy="1234440"/>
          </a:xfrm>
          <a:prstGeom prst="roundRect">
            <a:avLst/>
          </a:prstGeom>
          <a:solidFill>
            <a:srgbClr val="F9E8E7"/>
          </a:solidFill>
          <a:ln w="12700">
            <a:solidFill>
              <a:srgbClr val="E8C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6343802" y="3172968"/>
            <a:ext cx="2549042" cy="73152"/>
          </a:xfrm>
          <a:prstGeom prst="rect">
            <a:avLst/>
          </a:prstGeom>
          <a:solidFill>
            <a:srgbClr val="D34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471818" y="3282696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4836"/>
                </a:solidFill>
              </a:rPr>
              <a:t>Executor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471818" y="3557016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审批后幂等执行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471818" y="3931920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只执行已批准批次，失败立即暂停并留痕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9094012" y="3172968"/>
            <a:ext cx="2549042" cy="1234440"/>
          </a:xfrm>
          <a:prstGeom prst="roundRect">
            <a:avLst/>
          </a:prstGeom>
          <a:solidFill>
            <a:srgbClr val="E2F3E5"/>
          </a:solidFill>
          <a:ln w="12700">
            <a:solidFill>
              <a:srgbClr val="BCD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9094012" y="3172968"/>
            <a:ext cx="2549042" cy="73152"/>
          </a:xfrm>
          <a:prstGeom prst="rect">
            <a:avLst/>
          </a:prstGeom>
          <a:solidFill>
            <a:srgbClr val="1E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9222028" y="3282696"/>
            <a:ext cx="2293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A45"/>
                </a:solidFill>
              </a:rPr>
              <a:t>Verifier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222028" y="3557016"/>
            <a:ext cx="2293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B34"/>
                </a:solidFill>
              </a:rPr>
              <a:t>独立覆盖核验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222028" y="3931920"/>
            <a:ext cx="229301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B5563"/>
                </a:solidFill>
              </a:rPr>
              <a:t>重算覆盖、重复、遗漏、越界，不复用 Executor 结论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593592" y="5376672"/>
            <a:ext cx="306324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3739896" y="548640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</a:rPr>
              <a:t>共享对象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507992" y="5486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IncidentContext · Evidence ID · 范围哈希 · AgentRun/Event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839712" y="5376672"/>
            <a:ext cx="4160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6986016" y="548640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</a:rPr>
              <a:t>职责边界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754112" y="5449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Worker 不能批准、不能直接操作宿主、不能扩大影响集合；Verifier 独立核验，不复用 Executor 结论。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38912" y="51206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1B34"/>
                </a:solidFill>
              </a:rPr>
              <a:t>1 Manager + 6 Worker：职责制衡，不让一个 Agent 自证自批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38912" y="94183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A6680"/>
                </a:solidFill>
              </a:rPr>
              <a:t>IncidentContext、Evidence ID、范围哈希和 AgentRun/Event 在角色间传递；分析、规划、执行、核验与审批分离。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多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合理性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消融视角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 dirty="0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为什么</a:t>
            </a:r>
            <a:r>
              <a:rPr lang="zh-CN" altLang="zh-CN" sz="2400" b="1" u="none" strike="noStrike" dirty="0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使用多 </a:t>
            </a:r>
            <a:r>
              <a:rPr lang="en-US" altLang="zh-CN" sz="2400" b="1" u="none" strike="noStrike" dirty="0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固定工作流守住安全边界</a:t>
            </a:r>
            <a:r>
              <a:rPr lang="en-US" alt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: </a:t>
            </a: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多 </a:t>
            </a:r>
            <a:r>
              <a:rPr lang="en-US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处理证据冲突、实验选择和恢复方案权衡</a:t>
            </a:r>
            <a:r>
              <a:rPr lang="en-US" alt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, </a:t>
            </a: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确定性工具负责事实与写入。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658440" y="1417320"/>
            <a:ext cx="5714640" cy="4407120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896040" y="166428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三种方案对比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896040" y="205740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方案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2331720" y="205740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优势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3657600" y="205740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风险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056560" y="2057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边界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1"/>
          <p:cNvSpPr/>
          <p:nvPr/>
        </p:nvSpPr>
        <p:spPr>
          <a:xfrm>
            <a:off x="896040" y="2230920"/>
            <a:ext cx="5139000" cy="360"/>
          </a:xfrm>
          <a:prstGeom prst="line">
            <a:avLst/>
          </a:prstGeom>
          <a:ln w="90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896040" y="2395800"/>
            <a:ext cx="102384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941760" y="2446200"/>
            <a:ext cx="932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固定工作流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2331720" y="241416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稳定、低成本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3657600" y="241416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未知组合事故难覆盖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5056560" y="241416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适合已知 </a:t>
            </a:r>
            <a:r>
              <a:rPr lang="en-US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Playbook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896040" y="3191040"/>
            <a:ext cx="5139000" cy="360"/>
          </a:xfrm>
          <a:prstGeom prst="line">
            <a:avLst/>
          </a:prstGeom>
          <a:ln w="90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896040" y="3355920"/>
            <a:ext cx="1023840" cy="255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600">
            <a:solidFill>
              <a:srgbClr val="EDE9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941760" y="3406320"/>
            <a:ext cx="932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单 </a:t>
            </a:r>
            <a:r>
              <a:rPr lang="en-US" sz="74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Agent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0"/>
          <p:cNvSpPr/>
          <p:nvPr/>
        </p:nvSpPr>
        <p:spPr>
          <a:xfrm>
            <a:off x="2331720" y="337428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灵活、实现简单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1"/>
          <p:cNvSpPr/>
          <p:nvPr/>
        </p:nvSpPr>
        <p:spPr>
          <a:xfrm>
            <a:off x="3657600" y="337428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易自我确认；提出结论后又自验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5056560" y="337428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适合低风险分析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3"/>
          <p:cNvSpPr/>
          <p:nvPr/>
        </p:nvSpPr>
        <p:spPr>
          <a:xfrm>
            <a:off x="896040" y="4151160"/>
            <a:ext cx="5139000" cy="360"/>
          </a:xfrm>
          <a:prstGeom prst="line">
            <a:avLst/>
          </a:prstGeom>
          <a:ln w="90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896040" y="4316040"/>
            <a:ext cx="102384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5"/>
          <p:cNvSpPr/>
          <p:nvPr/>
        </p:nvSpPr>
        <p:spPr>
          <a:xfrm>
            <a:off x="941760" y="4366440"/>
            <a:ext cx="932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OJGuard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2331720" y="433440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专业分工、交叉质疑、独立核验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3657600" y="433440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调用成本更高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8"/>
          <p:cNvSpPr/>
          <p:nvPr/>
        </p:nvSpPr>
        <p:spPr>
          <a:xfrm>
            <a:off x="5056560" y="433440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只投放在不确定节点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9"/>
          <p:cNvSpPr/>
          <p:nvPr/>
        </p:nvSpPr>
        <p:spPr>
          <a:xfrm>
            <a:off x="6766560" y="1417320"/>
            <a:ext cx="4525920" cy="4407120"/>
          </a:xfrm>
          <a:prstGeom prst="roundRect">
            <a:avLst>
              <a:gd name="adj" fmla="val 1660"/>
            </a:avLst>
          </a:prstGeom>
          <a:solidFill>
            <a:srgbClr val="F6F8FF"/>
          </a:solidFill>
          <a:ln w="10080">
            <a:solidFill>
              <a:srgbClr val="E4EAF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0"/>
          <p:cNvSpPr/>
          <p:nvPr/>
        </p:nvSpPr>
        <p:spPr>
          <a:xfrm>
            <a:off x="7040880" y="1664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决策边界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1"/>
          <p:cNvSpPr/>
          <p:nvPr/>
        </p:nvSpPr>
        <p:spPr>
          <a:xfrm>
            <a:off x="7059240" y="2048400"/>
            <a:ext cx="36115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2"/>
          <p:cNvSpPr/>
          <p:nvPr/>
        </p:nvSpPr>
        <p:spPr>
          <a:xfrm>
            <a:off x="9802440" y="2185560"/>
            <a:ext cx="65808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3"/>
          <p:cNvSpPr/>
          <p:nvPr/>
        </p:nvSpPr>
        <p:spPr>
          <a:xfrm>
            <a:off x="9848160" y="2235600"/>
            <a:ext cx="566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AgentTeams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4"/>
          <p:cNvSpPr/>
          <p:nvPr/>
        </p:nvSpPr>
        <p:spPr>
          <a:xfrm>
            <a:off x="7205400" y="215784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开放世界判断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5"/>
          <p:cNvSpPr/>
          <p:nvPr/>
        </p:nvSpPr>
        <p:spPr>
          <a:xfrm>
            <a:off x="8275320" y="2167200"/>
            <a:ext cx="1389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竞争根因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信息增益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恢复方案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6"/>
          <p:cNvSpPr/>
          <p:nvPr/>
        </p:nvSpPr>
        <p:spPr>
          <a:xfrm>
            <a:off x="7059240" y="2825640"/>
            <a:ext cx="36115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7"/>
          <p:cNvSpPr/>
          <p:nvPr/>
        </p:nvSpPr>
        <p:spPr>
          <a:xfrm>
            <a:off x="9802440" y="2962800"/>
            <a:ext cx="65808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8"/>
          <p:cNvSpPr/>
          <p:nvPr/>
        </p:nvSpPr>
        <p:spPr>
          <a:xfrm>
            <a:off x="9848160" y="3012840"/>
            <a:ext cx="566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状态机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9"/>
          <p:cNvSpPr/>
          <p:nvPr/>
        </p:nvSpPr>
        <p:spPr>
          <a:xfrm>
            <a:off x="7205400" y="293508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安全约束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0"/>
          <p:cNvSpPr/>
          <p:nvPr/>
        </p:nvSpPr>
        <p:spPr>
          <a:xfrm>
            <a:off x="8275320" y="2944440"/>
            <a:ext cx="1389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合法动作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阶段转换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权限门禁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1"/>
          <p:cNvSpPr/>
          <p:nvPr/>
        </p:nvSpPr>
        <p:spPr>
          <a:xfrm>
            <a:off x="7059240" y="3602880"/>
            <a:ext cx="36115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2"/>
          <p:cNvSpPr/>
          <p:nvPr/>
        </p:nvSpPr>
        <p:spPr>
          <a:xfrm>
            <a:off x="9802440" y="3740040"/>
            <a:ext cx="658080" cy="2556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600">
            <a:solidFill>
              <a:srgbClr val="CCFBF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3"/>
          <p:cNvSpPr/>
          <p:nvPr/>
        </p:nvSpPr>
        <p:spPr>
          <a:xfrm>
            <a:off x="9848160" y="3790080"/>
            <a:ext cx="566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确定性工具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4"/>
          <p:cNvSpPr/>
          <p:nvPr/>
        </p:nvSpPr>
        <p:spPr>
          <a:xfrm>
            <a:off x="7205400" y="371232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业务事实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5"/>
          <p:cNvSpPr/>
          <p:nvPr/>
        </p:nvSpPr>
        <p:spPr>
          <a:xfrm>
            <a:off x="8275320" y="3721680"/>
            <a:ext cx="1389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实验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影响集合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重评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验证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6"/>
          <p:cNvSpPr/>
          <p:nvPr/>
        </p:nvSpPr>
        <p:spPr>
          <a:xfrm>
            <a:off x="7059240" y="4380120"/>
            <a:ext cx="36115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7"/>
          <p:cNvSpPr/>
          <p:nvPr/>
        </p:nvSpPr>
        <p:spPr>
          <a:xfrm>
            <a:off x="9802440" y="4517280"/>
            <a:ext cx="65808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8"/>
          <p:cNvSpPr/>
          <p:nvPr/>
        </p:nvSpPr>
        <p:spPr>
          <a:xfrm>
            <a:off x="9848160" y="4567320"/>
            <a:ext cx="566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人类角色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9"/>
          <p:cNvSpPr/>
          <p:nvPr/>
        </p:nvSpPr>
        <p:spPr>
          <a:xfrm>
            <a:off x="7205400" y="448956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高风险批准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0"/>
          <p:cNvSpPr/>
          <p:nvPr/>
        </p:nvSpPr>
        <p:spPr>
          <a:xfrm>
            <a:off x="8275320" y="4498920"/>
            <a:ext cx="1389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技术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业务 </a:t>
            </a:r>
            <a:r>
              <a:rPr lang="en-US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7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关闭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1"/>
          <p:cNvSpPr/>
          <p:nvPr/>
        </p:nvSpPr>
        <p:spPr>
          <a:xfrm>
            <a:off x="7150680" y="5257800"/>
            <a:ext cx="3337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核心回答：</a:t>
            </a:r>
            <a:r>
              <a:rPr lang="en-US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OJGuard </a:t>
            </a:r>
            <a:r>
              <a:rPr lang="zh-CN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不是用 </a:t>
            </a:r>
            <a:r>
              <a:rPr lang="en-US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替代工作流，而是让 </a:t>
            </a:r>
            <a:r>
              <a:rPr lang="en-US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sz="8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在工作流无法预先穷举的节点做有证据的选择。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2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3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backend/app/services/agent_routing.py · agentteams/ojguard-team.yaml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4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动态协同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不确定节点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2400" b="1" u="none" strike="noStrike" dirty="0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altLang="en-US" sz="2400" b="1" u="none" strike="noStrike" dirty="0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动作选择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三个节点存在真实选择：竞争实验、处置计划、灰度失败恢复；其他确定性阶段收缩为受控工具执行。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"/>
          <p:cNvSpPr/>
          <p:nvPr/>
        </p:nvSpPr>
        <p:spPr>
          <a:xfrm>
            <a:off x="1728000" y="2349720"/>
            <a:ext cx="28368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3126960" y="2349720"/>
            <a:ext cx="80496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5047200" y="2349720"/>
            <a:ext cx="48492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6647400" y="2349720"/>
            <a:ext cx="85068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8613360" y="2349720"/>
            <a:ext cx="41148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10140480" y="2349720"/>
            <a:ext cx="164520" cy="360"/>
          </a:xfrm>
          <a:prstGeom prst="line">
            <a:avLst/>
          </a:prstGeom>
          <a:ln w="1260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65844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0080">
            <a:solidFill>
              <a:srgbClr val="EEF3FF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73152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信号归一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74988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Signal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时间线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205740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FFF3E8"/>
          </a:solidFill>
          <a:ln w="10080">
            <a:solidFill>
              <a:srgbClr val="FFF3E8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213048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竞争实验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214884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Root Cause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二维对照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一维对照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Checker Probe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397764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0080">
            <a:solidFill>
              <a:srgbClr val="EEF3FF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405072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影响定界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406908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Impact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冻结范围哈希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557784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0080">
            <a:solidFill>
              <a:srgbClr val="EDE9F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565092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处置选择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566928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Planner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控制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灰度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全量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回滚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754380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0080">
            <a:solidFill>
              <a:srgbClr val="EEF3FF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4"/>
          <p:cNvSpPr/>
          <p:nvPr/>
        </p:nvSpPr>
        <p:spPr>
          <a:xfrm>
            <a:off x="761688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受控执行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763524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幂等批次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907092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10080">
            <a:solidFill>
              <a:srgbClr val="FEE2E2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914400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DC2626"/>
                </a:solidFill>
                <a:effectLst/>
                <a:uFillTx/>
                <a:latin typeface="Noto Sans CJK SC"/>
                <a:ea typeface="Noto Sans CJK SC"/>
              </a:rPr>
              <a:t>失败恢复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916236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Planner + Verifier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PAUSED → rev2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9"/>
          <p:cNvSpPr/>
          <p:nvPr/>
        </p:nvSpPr>
        <p:spPr>
          <a:xfrm>
            <a:off x="10351080" y="1874520"/>
            <a:ext cx="1124280" cy="95976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0080">
            <a:solidFill>
              <a:srgbClr val="DCFCE7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0"/>
          <p:cNvSpPr/>
          <p:nvPr/>
        </p:nvSpPr>
        <p:spPr>
          <a:xfrm>
            <a:off x="10424160" y="198432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独立关闭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10442520" y="2313360"/>
            <a:ext cx="94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Verifier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覆盖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重复 </a:t>
            </a:r>
            <a:r>
              <a:rPr lang="en-US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8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越界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2"/>
          <p:cNvSpPr/>
          <p:nvPr/>
        </p:nvSpPr>
        <p:spPr>
          <a:xfrm>
            <a:off x="777240" y="3822120"/>
            <a:ext cx="29714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3"/>
          <p:cNvSpPr/>
          <p:nvPr/>
        </p:nvSpPr>
        <p:spPr>
          <a:xfrm>
            <a:off x="978480" y="404172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4"/>
          <p:cNvSpPr/>
          <p:nvPr/>
        </p:nvSpPr>
        <p:spPr>
          <a:xfrm>
            <a:off x="1024200" y="409212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竞争假设补选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5"/>
          <p:cNvSpPr/>
          <p:nvPr/>
        </p:nvSpPr>
        <p:spPr>
          <a:xfrm>
            <a:off x="1005840" y="4434840"/>
            <a:ext cx="2486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H1 runtime_image 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H2 judge_node 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并存；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Manager 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拒绝低信息量实验，选择 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image × node 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二维对照。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6"/>
          <p:cNvSpPr/>
          <p:nvPr/>
        </p:nvSpPr>
        <p:spPr>
          <a:xfrm>
            <a:off x="1005840" y="495612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INCONCLUSIVE </a:t>
            </a:r>
            <a:r>
              <a:rPr lang="zh-CN" sz="81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不推进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37"/>
          <p:cNvSpPr/>
          <p:nvPr/>
        </p:nvSpPr>
        <p:spPr>
          <a:xfrm>
            <a:off x="4343400" y="3822120"/>
            <a:ext cx="29714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4544640" y="404172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600">
            <a:solidFill>
              <a:srgbClr val="FEE2E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9"/>
          <p:cNvSpPr/>
          <p:nvPr/>
        </p:nvSpPr>
        <p:spPr>
          <a:xfrm>
            <a:off x="4590360" y="409212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DC2626"/>
                </a:solidFill>
                <a:effectLst/>
                <a:uFillTx/>
                <a:latin typeface="Noto Sans CJK SC"/>
                <a:ea typeface="Noto Sans CJK SC"/>
              </a:rPr>
              <a:t>恢复计划修订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0"/>
          <p:cNvSpPr/>
          <p:nvPr/>
        </p:nvSpPr>
        <p:spPr>
          <a:xfrm>
            <a:off x="4572000" y="4434840"/>
            <a:ext cx="2486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灰度失败进入 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PAUSED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；旧审批撤销，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revision 2 supersedes rev1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，重新灰度后再全量。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1"/>
          <p:cNvSpPr/>
          <p:nvPr/>
        </p:nvSpPr>
        <p:spPr>
          <a:xfrm>
            <a:off x="4572000" y="495612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10" b="1" u="none" strike="noStrike">
                <a:solidFill>
                  <a:srgbClr val="DC2626"/>
                </a:solidFill>
                <a:effectLst/>
                <a:uFillTx/>
                <a:latin typeface="Noto Sans CJK SC"/>
                <a:ea typeface="Noto Sans CJK SC"/>
              </a:rPr>
              <a:t>失败不是隐藏，而是显式分支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2"/>
          <p:cNvSpPr/>
          <p:nvPr/>
        </p:nvSpPr>
        <p:spPr>
          <a:xfrm>
            <a:off x="7909560" y="3822120"/>
            <a:ext cx="29714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3"/>
          <p:cNvSpPr/>
          <p:nvPr/>
        </p:nvSpPr>
        <p:spPr>
          <a:xfrm>
            <a:off x="8110800" y="4041720"/>
            <a:ext cx="105120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4"/>
          <p:cNvSpPr/>
          <p:nvPr/>
        </p:nvSpPr>
        <p:spPr>
          <a:xfrm>
            <a:off x="8156520" y="409212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门禁与独立核验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5"/>
          <p:cNvSpPr/>
          <p:nvPr/>
        </p:nvSpPr>
        <p:spPr>
          <a:xfrm>
            <a:off x="8138160" y="4434840"/>
            <a:ext cx="2486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技术、业务、关闭三次人工门禁；</a:t>
            </a:r>
            <a:r>
              <a:rPr lang="en-US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Verifier </a:t>
            </a:r>
            <a:r>
              <a:rPr lang="zh-CN" sz="80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重算覆盖率、重复、遗漏和越界。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6"/>
          <p:cNvSpPr/>
          <p:nvPr/>
        </p:nvSpPr>
        <p:spPr>
          <a:xfrm>
            <a:off x="8138160" y="495612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Agent </a:t>
            </a:r>
            <a:r>
              <a:rPr lang="zh-CN" sz="81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无审批接口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7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8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output/evidence/agentteams/deterministic-recovery-evidence.json · tests/test_agentteams_runtime_control.py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49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Skill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与工具集成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9 Skills × 12 MCP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Skill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抽象任务，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MCP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连接确定性事实与受控动作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每个 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Skill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定义输入输出、调用条件、依赖工具、失败处理、安全边界、幂等键和验收标准；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MCP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工具负责真实系统读写。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777240" y="1417320"/>
            <a:ext cx="1069812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1005840" y="16642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Skill </a:t>
            </a: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层：可复用任务能力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1005840" y="21488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1051560" y="21992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normalize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9"/>
          <p:cNvSpPr/>
          <p:nvPr/>
        </p:nvSpPr>
        <p:spPr>
          <a:xfrm>
            <a:off x="2971800" y="21488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3017520" y="21992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correlate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4937760" y="21488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600">
            <a:solidFill>
              <a:srgbClr val="CCFBF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4983480" y="21992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hypothesis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3"/>
          <p:cNvSpPr/>
          <p:nvPr/>
        </p:nvSpPr>
        <p:spPr>
          <a:xfrm>
            <a:off x="6903720" y="21488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600">
            <a:solidFill>
              <a:srgbClr val="EDE9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4"/>
          <p:cNvSpPr/>
          <p:nvPr/>
        </p:nvSpPr>
        <p:spPr>
          <a:xfrm>
            <a:off x="6949440" y="21992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replay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8869680" y="21488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8915400" y="21992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package-audit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7"/>
          <p:cNvSpPr/>
          <p:nvPr/>
        </p:nvSpPr>
        <p:spPr>
          <a:xfrm>
            <a:off x="1005840" y="24962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8"/>
          <p:cNvSpPr/>
          <p:nvPr/>
        </p:nvSpPr>
        <p:spPr>
          <a:xfrm>
            <a:off x="1051560" y="25466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impact-scope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2971800" y="24962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3017520" y="25466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remediation-plan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4937760" y="24962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600">
            <a:solidFill>
              <a:srgbClr val="CCFBF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4983480" y="25466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execute-rejudge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6903720" y="2496240"/>
            <a:ext cx="1508400" cy="255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600">
            <a:solidFill>
              <a:srgbClr val="EDE9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6949440" y="2546640"/>
            <a:ext cx="1416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verify/report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777240" y="3703320"/>
            <a:ext cx="10698120" cy="1599840"/>
          </a:xfrm>
          <a:prstGeom prst="roundRect">
            <a:avLst>
              <a:gd name="adj" fmla="val 4571"/>
            </a:avLst>
          </a:prstGeom>
          <a:solidFill>
            <a:srgbClr val="0B102E"/>
          </a:solidFill>
          <a:ln w="10080">
            <a:solidFill>
              <a:srgbClr val="0B102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1005840" y="39502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MCP </a:t>
            </a:r>
            <a:r>
              <a:rPr lang="zh-CN" sz="82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层：确定性系统接口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7"/>
          <p:cNvSpPr/>
          <p:nvPr/>
        </p:nvSpPr>
        <p:spPr>
          <a:xfrm>
            <a:off x="1005840" y="437076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F2A55"/>
          </a:solidFill>
          <a:ln w="10080">
            <a:solidFill>
              <a:srgbClr val="3944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8"/>
          <p:cNvSpPr/>
          <p:nvPr/>
        </p:nvSpPr>
        <p:spPr>
          <a:xfrm>
            <a:off x="1097280" y="4507920"/>
            <a:ext cx="868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信号</a:t>
            </a: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部署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9"/>
          <p:cNvSpPr/>
          <p:nvPr/>
        </p:nvSpPr>
        <p:spPr>
          <a:xfrm>
            <a:off x="1097280" y="470016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异常分布、变更记录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0"/>
          <p:cNvSpPr/>
          <p:nvPr/>
        </p:nvSpPr>
        <p:spPr>
          <a:xfrm>
            <a:off x="3035880" y="437076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F2A55"/>
          </a:solidFill>
          <a:ln w="10080">
            <a:solidFill>
              <a:srgbClr val="3944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1"/>
          <p:cNvSpPr/>
          <p:nvPr/>
        </p:nvSpPr>
        <p:spPr>
          <a:xfrm>
            <a:off x="3127320" y="4507920"/>
            <a:ext cx="868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重放</a:t>
            </a: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实验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2"/>
          <p:cNvSpPr/>
          <p:nvPr/>
        </p:nvSpPr>
        <p:spPr>
          <a:xfrm>
            <a:off x="3127320" y="470016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候选、对照、</a:t>
            </a:r>
            <a:r>
              <a:rPr lang="en-US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PASSED/INCONCLUSIVE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3"/>
          <p:cNvSpPr/>
          <p:nvPr/>
        </p:nvSpPr>
        <p:spPr>
          <a:xfrm>
            <a:off x="5065920" y="437076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F2A55"/>
          </a:solidFill>
          <a:ln w="10080">
            <a:solidFill>
              <a:srgbClr val="3944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4"/>
          <p:cNvSpPr/>
          <p:nvPr/>
        </p:nvSpPr>
        <p:spPr>
          <a:xfrm>
            <a:off x="5157360" y="4507920"/>
            <a:ext cx="868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题包审计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5"/>
          <p:cNvSpPr/>
          <p:nvPr/>
        </p:nvSpPr>
        <p:spPr>
          <a:xfrm>
            <a:off x="5157360" y="470016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Checker</a:t>
            </a: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、数据、配置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6"/>
          <p:cNvSpPr/>
          <p:nvPr/>
        </p:nvSpPr>
        <p:spPr>
          <a:xfrm>
            <a:off x="7095600" y="437076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F2A55"/>
          </a:solidFill>
          <a:ln w="10080">
            <a:solidFill>
              <a:srgbClr val="3944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7"/>
          <p:cNvSpPr/>
          <p:nvPr/>
        </p:nvSpPr>
        <p:spPr>
          <a:xfrm>
            <a:off x="7187040" y="4507920"/>
            <a:ext cx="868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影响</a:t>
            </a: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计划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8"/>
          <p:cNvSpPr/>
          <p:nvPr/>
        </p:nvSpPr>
        <p:spPr>
          <a:xfrm>
            <a:off x="7187040" y="470016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集合、</a:t>
            </a:r>
            <a:r>
              <a:rPr lang="en-US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SHA-256</a:t>
            </a: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revision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9"/>
          <p:cNvSpPr/>
          <p:nvPr/>
        </p:nvSpPr>
        <p:spPr>
          <a:xfrm>
            <a:off x="9125640" y="437076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F2A55"/>
          </a:solidFill>
          <a:ln w="10080">
            <a:solidFill>
              <a:srgbClr val="3944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0"/>
          <p:cNvSpPr/>
          <p:nvPr/>
        </p:nvSpPr>
        <p:spPr>
          <a:xfrm>
            <a:off x="9217080" y="4507920"/>
            <a:ext cx="868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审批</a:t>
            </a: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执行</a:t>
            </a:r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6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验证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1"/>
          <p:cNvSpPr/>
          <p:nvPr/>
        </p:nvSpPr>
        <p:spPr>
          <a:xfrm>
            <a:off x="9217080" y="470016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20" b="0" u="none" strike="noStrike">
                <a:solidFill>
                  <a:srgbClr val="BFC7E8"/>
                </a:solidFill>
                <a:effectLst/>
                <a:uFillTx/>
                <a:latin typeface="Noto Sans CJK SC"/>
                <a:ea typeface="Noto Sans CJK SC"/>
              </a:rPr>
              <a:t>批次、幂等、报告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2"/>
          <p:cNvSpPr/>
          <p:nvPr/>
        </p:nvSpPr>
        <p:spPr>
          <a:xfrm>
            <a:off x="1828800" y="2980800"/>
            <a:ext cx="360" cy="67680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3"/>
          <p:cNvSpPr/>
          <p:nvPr/>
        </p:nvSpPr>
        <p:spPr>
          <a:xfrm>
            <a:off x="5303520" y="2980800"/>
            <a:ext cx="360" cy="67680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4"/>
          <p:cNvSpPr/>
          <p:nvPr/>
        </p:nvSpPr>
        <p:spPr>
          <a:xfrm>
            <a:off x="8961120" y="2980800"/>
            <a:ext cx="360" cy="676800"/>
          </a:xfrm>
          <a:prstGeom prst="line">
            <a:avLst/>
          </a:prstGeom>
          <a:ln w="12600">
            <a:solidFill>
              <a:srgbClr val="D7DFF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5"/>
          <p:cNvSpPr/>
          <p:nvPr/>
        </p:nvSpPr>
        <p:spPr>
          <a:xfrm>
            <a:off x="1188720" y="5733360"/>
            <a:ext cx="9829440" cy="365400"/>
          </a:xfrm>
          <a:prstGeom prst="roundRect">
            <a:avLst>
              <a:gd name="adj" fmla="val 20000"/>
            </a:avLst>
          </a:prstGeom>
          <a:solidFill>
            <a:srgbClr val="FFF3E8"/>
          </a:solidFill>
          <a:ln w="1008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6"/>
          <p:cNvSpPr/>
          <p:nvPr/>
        </p:nvSpPr>
        <p:spPr>
          <a:xfrm>
            <a:off x="1417320" y="5861160"/>
            <a:ext cx="93265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稳定契约：参数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Schema 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返回结构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权限分级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失败重试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审计摘要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幂等键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可迁移到标准 </a:t>
            </a:r>
            <a:r>
              <a:rPr lang="en-US" sz="839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MCP Server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7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8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skills/ · mcp_server/tools.py · materials/MCP_</a:t>
            </a:r>
            <a:r>
              <a:rPr lang="zh-CN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工具契约与迁移说明</a:t>
            </a: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.md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9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上下文、可观测性与安全边界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每次决策、工具调用和状态推进都有可查询依据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IncidentContext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是单一事实源；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AgentRun/Event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记录路由、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Worker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、工具、理由和状态变化；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SSE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支持前端实时消费与恢复。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731520" y="1417320"/>
            <a:ext cx="516600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960120" y="16642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AgentRun </a:t>
            </a: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事件流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"/>
          <p:cNvSpPr/>
          <p:nvPr/>
        </p:nvSpPr>
        <p:spPr>
          <a:xfrm>
            <a:off x="1133640" y="2276640"/>
            <a:ext cx="360" cy="493920"/>
          </a:xfrm>
          <a:prstGeom prst="line">
            <a:avLst/>
          </a:prstGeom>
          <a:ln w="126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8"/>
          <p:cNvSpPr/>
          <p:nvPr/>
        </p:nvSpPr>
        <p:spPr>
          <a:xfrm>
            <a:off x="1078920" y="2240280"/>
            <a:ext cx="100080" cy="10008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9"/>
          <p:cNvSpPr/>
          <p:nvPr/>
        </p:nvSpPr>
        <p:spPr>
          <a:xfrm>
            <a:off x="1371600" y="2148840"/>
            <a:ext cx="566640" cy="255600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 w="12600">
            <a:solidFill>
              <a:srgbClr val="FFF3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1417320" y="21992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ROUTE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2075760" y="219456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Manager </a:t>
            </a: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选择合法动作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2"/>
          <p:cNvSpPr/>
          <p:nvPr/>
        </p:nvSpPr>
        <p:spPr>
          <a:xfrm>
            <a:off x="1133640" y="2871000"/>
            <a:ext cx="360" cy="493920"/>
          </a:xfrm>
          <a:prstGeom prst="line">
            <a:avLst/>
          </a:prstGeom>
          <a:ln w="126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1078920" y="2834640"/>
            <a:ext cx="100080" cy="10008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4"/>
          <p:cNvSpPr/>
          <p:nvPr/>
        </p:nvSpPr>
        <p:spPr>
          <a:xfrm>
            <a:off x="1371600" y="2743200"/>
            <a:ext cx="566640" cy="255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600">
            <a:solidFill>
              <a:srgbClr val="DBEA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1417320" y="279360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WORKER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2075760" y="278892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Worker </a:t>
            </a: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调用 </a:t>
            </a:r>
            <a:r>
              <a:rPr lang="en-US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Skill/MCP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1133640" y="3465360"/>
            <a:ext cx="360" cy="493920"/>
          </a:xfrm>
          <a:prstGeom prst="line">
            <a:avLst/>
          </a:prstGeom>
          <a:ln w="126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8"/>
          <p:cNvSpPr/>
          <p:nvPr/>
        </p:nvSpPr>
        <p:spPr>
          <a:xfrm>
            <a:off x="1078920" y="3429000"/>
            <a:ext cx="100080" cy="100080"/>
          </a:xfrm>
          <a:prstGeom prst="ellipse">
            <a:avLst/>
          </a:prstGeom>
          <a:solidFill>
            <a:srgbClr val="0F766E"/>
          </a:solidFill>
          <a:ln w="126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9"/>
          <p:cNvSpPr/>
          <p:nvPr/>
        </p:nvSpPr>
        <p:spPr>
          <a:xfrm>
            <a:off x="1371600" y="3337560"/>
            <a:ext cx="566640" cy="2556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600">
            <a:solidFill>
              <a:srgbClr val="CCFBF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1417320" y="338796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F766E"/>
                </a:solidFill>
                <a:effectLst/>
                <a:uFillTx/>
                <a:latin typeface="Noto Sans CJK SC"/>
                <a:ea typeface="Noto Sans CJK SC"/>
              </a:rPr>
              <a:t>TOOL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2075760" y="338328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确定性结果回写台账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1133640" y="4059720"/>
            <a:ext cx="360" cy="493920"/>
          </a:xfrm>
          <a:prstGeom prst="line">
            <a:avLst/>
          </a:prstGeom>
          <a:ln w="1260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3"/>
          <p:cNvSpPr/>
          <p:nvPr/>
        </p:nvSpPr>
        <p:spPr>
          <a:xfrm>
            <a:off x="1078920" y="4023360"/>
            <a:ext cx="100080" cy="100080"/>
          </a:xfrm>
          <a:prstGeom prst="ellipse">
            <a:avLst/>
          </a:prstGeom>
          <a:solidFill>
            <a:srgbClr val="7C3AED"/>
          </a:solidFill>
          <a:ln w="126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4"/>
          <p:cNvSpPr/>
          <p:nvPr/>
        </p:nvSpPr>
        <p:spPr>
          <a:xfrm>
            <a:off x="1371600" y="3931920"/>
            <a:ext cx="566640" cy="255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600">
            <a:solidFill>
              <a:srgbClr val="EDE9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1417320" y="398232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STATE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2075760" y="397764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状态机校验推进</a:t>
            </a:r>
            <a:r>
              <a:rPr lang="en-US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暂停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7"/>
          <p:cNvSpPr/>
          <p:nvPr/>
        </p:nvSpPr>
        <p:spPr>
          <a:xfrm>
            <a:off x="1133640" y="4654080"/>
            <a:ext cx="360" cy="4939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8"/>
          <p:cNvSpPr/>
          <p:nvPr/>
        </p:nvSpPr>
        <p:spPr>
          <a:xfrm>
            <a:off x="1078920" y="4617720"/>
            <a:ext cx="100080" cy="100080"/>
          </a:xfrm>
          <a:prstGeom prst="ellipse">
            <a:avLst/>
          </a:prstGeom>
          <a:solidFill>
            <a:srgbClr val="059669"/>
          </a:solidFill>
          <a:ln w="12600">
            <a:solidFill>
              <a:srgbClr val="05966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9"/>
          <p:cNvSpPr/>
          <p:nvPr/>
        </p:nvSpPr>
        <p:spPr>
          <a:xfrm>
            <a:off x="1371600" y="4526280"/>
            <a:ext cx="566640" cy="255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600">
            <a:solidFill>
              <a:srgbClr val="DCFCE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0"/>
          <p:cNvSpPr/>
          <p:nvPr/>
        </p:nvSpPr>
        <p:spPr>
          <a:xfrm>
            <a:off x="1417320" y="457668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GATE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1"/>
          <p:cNvSpPr/>
          <p:nvPr/>
        </p:nvSpPr>
        <p:spPr>
          <a:xfrm>
            <a:off x="2075760" y="457200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人工批准或拒绝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2"/>
          <p:cNvSpPr/>
          <p:nvPr/>
        </p:nvSpPr>
        <p:spPr>
          <a:xfrm>
            <a:off x="960120" y="5303520"/>
            <a:ext cx="443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查询方式：快照 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API · 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增量事件 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· SSE Stream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；失败运行可从持久化 </a:t>
            </a:r>
            <a:r>
              <a:rPr lang="en-US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IncidentContext </a:t>
            </a:r>
            <a:r>
              <a:rPr lang="zh-CN" sz="82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与事件序列恢复。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3"/>
          <p:cNvSpPr/>
          <p:nvPr/>
        </p:nvSpPr>
        <p:spPr>
          <a:xfrm>
            <a:off x="6400800" y="1417320"/>
            <a:ext cx="4891680" cy="4434480"/>
          </a:xfrm>
          <a:prstGeom prst="roundRect">
            <a:avLst>
              <a:gd name="adj" fmla="val 1649"/>
            </a:avLst>
          </a:prstGeom>
          <a:solidFill>
            <a:srgbClr val="F6F8FF"/>
          </a:solidFill>
          <a:ln w="10080">
            <a:solidFill>
              <a:srgbClr val="E4EAFE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4"/>
          <p:cNvSpPr/>
          <p:nvPr/>
        </p:nvSpPr>
        <p:spPr>
          <a:xfrm>
            <a:off x="6629400" y="16642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安全控制面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5"/>
          <p:cNvSpPr/>
          <p:nvPr/>
        </p:nvSpPr>
        <p:spPr>
          <a:xfrm>
            <a:off x="6629400" y="214884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6"/>
          <p:cNvSpPr/>
          <p:nvPr/>
        </p:nvSpPr>
        <p:spPr>
          <a:xfrm>
            <a:off x="6766560" y="2313360"/>
            <a:ext cx="100080" cy="10008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7"/>
          <p:cNvSpPr/>
          <p:nvPr/>
        </p:nvSpPr>
        <p:spPr>
          <a:xfrm>
            <a:off x="6931080" y="226764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读写分级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8"/>
          <p:cNvSpPr/>
          <p:nvPr/>
        </p:nvSpPr>
        <p:spPr>
          <a:xfrm>
            <a:off x="6931080" y="247788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分析角色无批量执行权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9"/>
          <p:cNvSpPr/>
          <p:nvPr/>
        </p:nvSpPr>
        <p:spPr>
          <a:xfrm>
            <a:off x="8869680" y="214884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0"/>
          <p:cNvSpPr/>
          <p:nvPr/>
        </p:nvSpPr>
        <p:spPr>
          <a:xfrm>
            <a:off x="9006840" y="2313360"/>
            <a:ext cx="100080" cy="10008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1"/>
          <p:cNvSpPr/>
          <p:nvPr/>
        </p:nvSpPr>
        <p:spPr>
          <a:xfrm>
            <a:off x="9171360" y="226764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范围哈希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2"/>
          <p:cNvSpPr/>
          <p:nvPr/>
        </p:nvSpPr>
        <p:spPr>
          <a:xfrm>
            <a:off x="9171360" y="247788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计划绑定冻结集合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3"/>
          <p:cNvSpPr/>
          <p:nvPr/>
        </p:nvSpPr>
        <p:spPr>
          <a:xfrm>
            <a:off x="6629400" y="297180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4"/>
          <p:cNvSpPr/>
          <p:nvPr/>
        </p:nvSpPr>
        <p:spPr>
          <a:xfrm>
            <a:off x="6766560" y="3136320"/>
            <a:ext cx="100080" cy="10008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5"/>
          <p:cNvSpPr/>
          <p:nvPr/>
        </p:nvSpPr>
        <p:spPr>
          <a:xfrm>
            <a:off x="6931080" y="309060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幂等键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6"/>
          <p:cNvSpPr/>
          <p:nvPr/>
        </p:nvSpPr>
        <p:spPr>
          <a:xfrm>
            <a:off x="6931080" y="330084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重试不重复写入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7"/>
          <p:cNvSpPr/>
          <p:nvPr/>
        </p:nvSpPr>
        <p:spPr>
          <a:xfrm>
            <a:off x="8869680" y="297180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8"/>
          <p:cNvSpPr/>
          <p:nvPr/>
        </p:nvSpPr>
        <p:spPr>
          <a:xfrm>
            <a:off x="9006840" y="3136320"/>
            <a:ext cx="100080" cy="10008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9"/>
          <p:cNvSpPr/>
          <p:nvPr/>
        </p:nvSpPr>
        <p:spPr>
          <a:xfrm>
            <a:off x="9171360" y="309060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三道门禁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50"/>
          <p:cNvSpPr/>
          <p:nvPr/>
        </p:nvSpPr>
        <p:spPr>
          <a:xfrm>
            <a:off x="9171360" y="330084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技术 </a:t>
            </a:r>
            <a:r>
              <a:rPr lang="en-US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业务 </a:t>
            </a:r>
            <a:r>
              <a:rPr lang="en-US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关闭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1"/>
          <p:cNvSpPr/>
          <p:nvPr/>
        </p:nvSpPr>
        <p:spPr>
          <a:xfrm>
            <a:off x="6629400" y="379476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2"/>
          <p:cNvSpPr/>
          <p:nvPr/>
        </p:nvSpPr>
        <p:spPr>
          <a:xfrm>
            <a:off x="6766560" y="3959280"/>
            <a:ext cx="100080" cy="10008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3"/>
          <p:cNvSpPr/>
          <p:nvPr/>
        </p:nvSpPr>
        <p:spPr>
          <a:xfrm>
            <a:off x="6931080" y="391356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失败分支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4"/>
          <p:cNvSpPr/>
          <p:nvPr/>
        </p:nvSpPr>
        <p:spPr>
          <a:xfrm>
            <a:off x="6931080" y="412380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PAUSED / HUMAN_REVIEW_REQUIRED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5"/>
          <p:cNvSpPr/>
          <p:nvPr/>
        </p:nvSpPr>
        <p:spPr>
          <a:xfrm>
            <a:off x="8869680" y="3794760"/>
            <a:ext cx="19382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6"/>
          <p:cNvSpPr/>
          <p:nvPr/>
        </p:nvSpPr>
        <p:spPr>
          <a:xfrm>
            <a:off x="9006840" y="3959280"/>
            <a:ext cx="100080" cy="10008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57"/>
          <p:cNvSpPr/>
          <p:nvPr/>
        </p:nvSpPr>
        <p:spPr>
          <a:xfrm>
            <a:off x="9171360" y="3913560"/>
            <a:ext cx="776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秘密隔离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8"/>
          <p:cNvSpPr/>
          <p:nvPr/>
        </p:nvSpPr>
        <p:spPr>
          <a:xfrm>
            <a:off x="9171360" y="4123800"/>
            <a:ext cx="13528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6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密钥不入日志与报告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9"/>
          <p:cNvSpPr/>
          <p:nvPr/>
        </p:nvSpPr>
        <p:spPr>
          <a:xfrm>
            <a:off x="7040880" y="5093280"/>
            <a:ext cx="3657240" cy="338040"/>
          </a:xfrm>
          <a:prstGeom prst="roundRect">
            <a:avLst>
              <a:gd name="adj" fmla="val 21622"/>
            </a:avLst>
          </a:prstGeom>
          <a:solidFill>
            <a:srgbClr val="0B102E"/>
          </a:solidFill>
          <a:ln w="10080">
            <a:solidFill>
              <a:srgbClr val="0B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0"/>
          <p:cNvSpPr/>
          <p:nvPr/>
        </p:nvSpPr>
        <p:spPr>
          <a:xfrm>
            <a:off x="7223760" y="5212080"/>
            <a:ext cx="3291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RAG </a:t>
            </a:r>
            <a:r>
              <a:rPr lang="zh-CN" sz="74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仅保留适配器契约，可接 </a:t>
            </a:r>
            <a:r>
              <a:rPr lang="en-US" sz="74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Runbook</a:t>
            </a:r>
            <a:r>
              <a:rPr lang="zh-CN" sz="74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；不虚构已实现知识库能力。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1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62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materials/</a:t>
            </a:r>
            <a:r>
              <a:rPr lang="zh-CN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上下文与可观测性说明</a:t>
            </a: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.md · backend/app/api/agent_runs.py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63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工程证据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真实 </a:t>
            </a: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AgentTeams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验收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DeepSeek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6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个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Worker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从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TRIAGING </a:t>
            </a: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动态推进到 </a:t>
            </a:r>
            <a:r>
              <a:rPr lang="en-US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RESOLVED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这前端主流程创建干净 </a:t>
            </a:r>
            <a:r>
              <a:rPr lang="en-US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TRIAGING </a:t>
            </a: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事故，</a:t>
            </a:r>
            <a:r>
              <a:rPr lang="en-US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Team Leader </a:t>
            </a:r>
            <a:r>
              <a:rPr lang="zh-CN" sz="1150" b="0" u="none" strike="noStrike" dirty="0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动态选择路线，确定性工具回写事实，三道人工门禁后关闭。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5"/>
          <p:cNvSpPr/>
          <p:nvPr/>
        </p:nvSpPr>
        <p:spPr>
          <a:xfrm>
            <a:off x="777240" y="1508760"/>
            <a:ext cx="150840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887040" y="1618560"/>
            <a:ext cx="1288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"/>
          <p:cNvSpPr/>
          <p:nvPr/>
        </p:nvSpPr>
        <p:spPr>
          <a:xfrm>
            <a:off x="887040" y="196596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ROUTE_DECISION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8"/>
          <p:cNvSpPr/>
          <p:nvPr/>
        </p:nvSpPr>
        <p:spPr>
          <a:xfrm>
            <a:off x="777240" y="2541960"/>
            <a:ext cx="150840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9"/>
          <p:cNvSpPr/>
          <p:nvPr/>
        </p:nvSpPr>
        <p:spPr>
          <a:xfrm>
            <a:off x="887040" y="2651760"/>
            <a:ext cx="1288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887040" y="299916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Worker </a:t>
            </a: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响应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1"/>
          <p:cNvSpPr/>
          <p:nvPr/>
        </p:nvSpPr>
        <p:spPr>
          <a:xfrm>
            <a:off x="777240" y="3575160"/>
            <a:ext cx="150840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2"/>
          <p:cNvSpPr/>
          <p:nvPr/>
        </p:nvSpPr>
        <p:spPr>
          <a:xfrm>
            <a:off x="887040" y="3684960"/>
            <a:ext cx="1288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C3AED"/>
                </a:solidFill>
                <a:effectLst/>
                <a:uFillTx/>
                <a:latin typeface="Noto Sans CJK SC"/>
                <a:ea typeface="Noto Sans CJK SC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3"/>
          <p:cNvSpPr/>
          <p:nvPr/>
        </p:nvSpPr>
        <p:spPr>
          <a:xfrm>
            <a:off x="887040" y="403236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模型响应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4"/>
          <p:cNvSpPr/>
          <p:nvPr/>
        </p:nvSpPr>
        <p:spPr>
          <a:xfrm>
            <a:off x="777240" y="4608720"/>
            <a:ext cx="150840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5"/>
          <p:cNvSpPr/>
          <p:nvPr/>
        </p:nvSpPr>
        <p:spPr>
          <a:xfrm>
            <a:off x="887040" y="4718160"/>
            <a:ext cx="1288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6"/>
          <p:cNvSpPr/>
          <p:nvPr/>
        </p:nvSpPr>
        <p:spPr>
          <a:xfrm>
            <a:off x="887040" y="506592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人工门禁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7"/>
          <p:cNvSpPr/>
          <p:nvPr/>
        </p:nvSpPr>
        <p:spPr>
          <a:xfrm>
            <a:off x="2788920" y="1417320"/>
            <a:ext cx="836640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8"/>
          <p:cNvSpPr/>
          <p:nvPr/>
        </p:nvSpPr>
        <p:spPr>
          <a:xfrm>
            <a:off x="3017520" y="16642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真实运行路径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9"/>
          <p:cNvSpPr/>
          <p:nvPr/>
        </p:nvSpPr>
        <p:spPr>
          <a:xfrm>
            <a:off x="315468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0"/>
          <p:cNvSpPr/>
          <p:nvPr/>
        </p:nvSpPr>
        <p:spPr>
          <a:xfrm>
            <a:off x="3831120" y="2743200"/>
            <a:ext cx="28368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1"/>
          <p:cNvSpPr/>
          <p:nvPr/>
        </p:nvSpPr>
        <p:spPr>
          <a:xfrm>
            <a:off x="450792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2"/>
          <p:cNvSpPr/>
          <p:nvPr/>
        </p:nvSpPr>
        <p:spPr>
          <a:xfrm>
            <a:off x="5184360" y="2743200"/>
            <a:ext cx="28368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3"/>
          <p:cNvSpPr/>
          <p:nvPr/>
        </p:nvSpPr>
        <p:spPr>
          <a:xfrm>
            <a:off x="586116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4"/>
          <p:cNvSpPr/>
          <p:nvPr/>
        </p:nvSpPr>
        <p:spPr>
          <a:xfrm>
            <a:off x="653796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5"/>
          <p:cNvSpPr/>
          <p:nvPr/>
        </p:nvSpPr>
        <p:spPr>
          <a:xfrm>
            <a:off x="7214400" y="2743200"/>
            <a:ext cx="28368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6"/>
          <p:cNvSpPr/>
          <p:nvPr/>
        </p:nvSpPr>
        <p:spPr>
          <a:xfrm>
            <a:off x="789120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7"/>
          <p:cNvSpPr/>
          <p:nvPr/>
        </p:nvSpPr>
        <p:spPr>
          <a:xfrm>
            <a:off x="8567640" y="2743200"/>
            <a:ext cx="28368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8"/>
          <p:cNvSpPr/>
          <p:nvPr/>
        </p:nvSpPr>
        <p:spPr>
          <a:xfrm>
            <a:off x="9244440" y="2743200"/>
            <a:ext cx="283320" cy="360"/>
          </a:xfrm>
          <a:prstGeom prst="line">
            <a:avLst/>
          </a:prstGeom>
          <a:ln w="10080">
            <a:solidFill>
              <a:srgbClr val="CBD5E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9"/>
          <p:cNvSpPr/>
          <p:nvPr/>
        </p:nvSpPr>
        <p:spPr>
          <a:xfrm>
            <a:off x="2971800" y="2587680"/>
            <a:ext cx="292320" cy="29232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0"/>
          <p:cNvSpPr/>
          <p:nvPr/>
        </p:nvSpPr>
        <p:spPr>
          <a:xfrm>
            <a:off x="280728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triage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1"/>
          <p:cNvSpPr/>
          <p:nvPr/>
        </p:nvSpPr>
        <p:spPr>
          <a:xfrm>
            <a:off x="280728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Signal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2"/>
          <p:cNvSpPr/>
          <p:nvPr/>
        </p:nvSpPr>
        <p:spPr>
          <a:xfrm>
            <a:off x="3648600" y="2587680"/>
            <a:ext cx="292320" cy="29232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3"/>
          <p:cNvSpPr/>
          <p:nvPr/>
        </p:nvSpPr>
        <p:spPr>
          <a:xfrm>
            <a:off x="348372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hypothesize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4"/>
          <p:cNvSpPr/>
          <p:nvPr/>
        </p:nvSpPr>
        <p:spPr>
          <a:xfrm>
            <a:off x="348372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Root Cause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5"/>
          <p:cNvSpPr/>
          <p:nvPr/>
        </p:nvSpPr>
        <p:spPr>
          <a:xfrm>
            <a:off x="4325040" y="2587680"/>
            <a:ext cx="292320" cy="292320"/>
          </a:xfrm>
          <a:prstGeom prst="ellipse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6"/>
          <p:cNvSpPr/>
          <p:nvPr/>
        </p:nvSpPr>
        <p:spPr>
          <a:xfrm>
            <a:off x="416052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2D experiment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7"/>
          <p:cNvSpPr/>
          <p:nvPr/>
        </p:nvSpPr>
        <p:spPr>
          <a:xfrm>
            <a:off x="416052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Root Cause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8"/>
          <p:cNvSpPr/>
          <p:nvPr/>
        </p:nvSpPr>
        <p:spPr>
          <a:xfrm>
            <a:off x="5001840" y="2587680"/>
            <a:ext cx="292320" cy="29232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39"/>
          <p:cNvSpPr/>
          <p:nvPr/>
        </p:nvSpPr>
        <p:spPr>
          <a:xfrm>
            <a:off x="483732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impact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0"/>
          <p:cNvSpPr/>
          <p:nvPr/>
        </p:nvSpPr>
        <p:spPr>
          <a:xfrm>
            <a:off x="483732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Impact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1"/>
          <p:cNvSpPr/>
          <p:nvPr/>
        </p:nvSpPr>
        <p:spPr>
          <a:xfrm>
            <a:off x="5678280" y="2587680"/>
            <a:ext cx="292320" cy="292320"/>
          </a:xfrm>
          <a:prstGeom prst="ellipse">
            <a:avLst/>
          </a:prstGeom>
          <a:solidFill>
            <a:srgbClr val="2563EB"/>
          </a:solidFill>
          <a:ln w="126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2"/>
          <p:cNvSpPr/>
          <p:nvPr/>
        </p:nvSpPr>
        <p:spPr>
          <a:xfrm>
            <a:off x="551376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plan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3"/>
          <p:cNvSpPr/>
          <p:nvPr/>
        </p:nvSpPr>
        <p:spPr>
          <a:xfrm>
            <a:off x="551376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Planner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4"/>
          <p:cNvSpPr/>
          <p:nvPr/>
        </p:nvSpPr>
        <p:spPr>
          <a:xfrm>
            <a:off x="6355080" y="2587680"/>
            <a:ext cx="292320" cy="292320"/>
          </a:xfrm>
          <a:prstGeom prst="ellipse">
            <a:avLst/>
          </a:prstGeom>
          <a:solidFill>
            <a:srgbClr val="059669"/>
          </a:solidFill>
          <a:ln w="12600">
            <a:solidFill>
              <a:srgbClr val="05966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5"/>
          <p:cNvSpPr/>
          <p:nvPr/>
        </p:nvSpPr>
        <p:spPr>
          <a:xfrm>
            <a:off x="619056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tech gate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6"/>
          <p:cNvSpPr/>
          <p:nvPr/>
        </p:nvSpPr>
        <p:spPr>
          <a:xfrm>
            <a:off x="619056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Human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47"/>
          <p:cNvSpPr/>
          <p:nvPr/>
        </p:nvSpPr>
        <p:spPr>
          <a:xfrm>
            <a:off x="7031880" y="2587680"/>
            <a:ext cx="292320" cy="292320"/>
          </a:xfrm>
          <a:prstGeom prst="ellipse">
            <a:avLst/>
          </a:prstGeom>
          <a:solidFill>
            <a:srgbClr val="7C3AED"/>
          </a:solidFill>
          <a:ln w="126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48"/>
          <p:cNvSpPr/>
          <p:nvPr/>
        </p:nvSpPr>
        <p:spPr>
          <a:xfrm>
            <a:off x="686700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canary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49"/>
          <p:cNvSpPr/>
          <p:nvPr/>
        </p:nvSpPr>
        <p:spPr>
          <a:xfrm>
            <a:off x="686700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50"/>
          <p:cNvSpPr/>
          <p:nvPr/>
        </p:nvSpPr>
        <p:spPr>
          <a:xfrm>
            <a:off x="7708320" y="2587680"/>
            <a:ext cx="292320" cy="292320"/>
          </a:xfrm>
          <a:prstGeom prst="ellipse">
            <a:avLst/>
          </a:prstGeom>
          <a:solidFill>
            <a:srgbClr val="059669"/>
          </a:solidFill>
          <a:ln w="12600">
            <a:solidFill>
              <a:srgbClr val="05966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1"/>
          <p:cNvSpPr/>
          <p:nvPr/>
        </p:nvSpPr>
        <p:spPr>
          <a:xfrm>
            <a:off x="754380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biz gate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2"/>
          <p:cNvSpPr/>
          <p:nvPr/>
        </p:nvSpPr>
        <p:spPr>
          <a:xfrm>
            <a:off x="754380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Human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53"/>
          <p:cNvSpPr/>
          <p:nvPr/>
        </p:nvSpPr>
        <p:spPr>
          <a:xfrm>
            <a:off x="8385120" y="2587680"/>
            <a:ext cx="292320" cy="292320"/>
          </a:xfrm>
          <a:prstGeom prst="ellipse">
            <a:avLst/>
          </a:prstGeom>
          <a:solidFill>
            <a:srgbClr val="7C3AED"/>
          </a:solidFill>
          <a:ln w="126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54"/>
          <p:cNvSpPr/>
          <p:nvPr/>
        </p:nvSpPr>
        <p:spPr>
          <a:xfrm>
            <a:off x="822060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bulk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5"/>
          <p:cNvSpPr/>
          <p:nvPr/>
        </p:nvSpPr>
        <p:spPr>
          <a:xfrm>
            <a:off x="822060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56"/>
          <p:cNvSpPr/>
          <p:nvPr/>
        </p:nvSpPr>
        <p:spPr>
          <a:xfrm>
            <a:off x="9061560" y="2587680"/>
            <a:ext cx="292320" cy="292320"/>
          </a:xfrm>
          <a:prstGeom prst="ellipse">
            <a:avLst/>
          </a:prstGeom>
          <a:solidFill>
            <a:srgbClr val="0F766E"/>
          </a:solidFill>
          <a:ln w="126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57"/>
          <p:cNvSpPr/>
          <p:nvPr/>
        </p:nvSpPr>
        <p:spPr>
          <a:xfrm>
            <a:off x="889704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verify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58"/>
          <p:cNvSpPr/>
          <p:nvPr/>
        </p:nvSpPr>
        <p:spPr>
          <a:xfrm>
            <a:off x="889704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Verifier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9"/>
          <p:cNvSpPr/>
          <p:nvPr/>
        </p:nvSpPr>
        <p:spPr>
          <a:xfrm>
            <a:off x="9738360" y="2587680"/>
            <a:ext cx="292320" cy="292320"/>
          </a:xfrm>
          <a:prstGeom prst="ellipse">
            <a:avLst/>
          </a:prstGeom>
          <a:solidFill>
            <a:srgbClr val="059669"/>
          </a:solidFill>
          <a:ln w="12600">
            <a:solidFill>
              <a:srgbClr val="05966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0"/>
          <p:cNvSpPr/>
          <p:nvPr/>
        </p:nvSpPr>
        <p:spPr>
          <a:xfrm>
            <a:off x="9573840" y="299916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close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1"/>
          <p:cNvSpPr/>
          <p:nvPr/>
        </p:nvSpPr>
        <p:spPr>
          <a:xfrm>
            <a:off x="9573840" y="3310200"/>
            <a:ext cx="6213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Human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62"/>
          <p:cNvSpPr/>
          <p:nvPr/>
        </p:nvSpPr>
        <p:spPr>
          <a:xfrm>
            <a:off x="3246120" y="4187880"/>
            <a:ext cx="7223400" cy="566640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0080">
            <a:solidFill>
              <a:srgbClr val="BBF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3"/>
          <p:cNvSpPr/>
          <p:nvPr/>
        </p:nvSpPr>
        <p:spPr>
          <a:xfrm>
            <a:off x="3520440" y="4416480"/>
            <a:ext cx="6656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最终状态 </a:t>
            </a:r>
            <a:r>
              <a:rPr lang="en-US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RESOLVED · </a:t>
            </a:r>
            <a:r>
              <a:rPr lang="zh-CN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覆盖 </a:t>
            </a:r>
            <a:r>
              <a:rPr lang="en-US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100% · </a:t>
            </a:r>
            <a:r>
              <a:rPr lang="zh-CN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重复 </a:t>
            </a:r>
            <a:r>
              <a:rPr lang="en-US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遗漏 </a:t>
            </a:r>
            <a:r>
              <a:rPr lang="en-US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越界 </a:t>
            </a:r>
            <a:r>
              <a:rPr lang="en-US" sz="880" b="1" u="none" strike="noStrike">
                <a:solidFill>
                  <a:srgbClr val="059669"/>
                </a:solidFill>
                <a:effectLst/>
                <a:uFillTx/>
                <a:latin typeface="Noto Sans CJK SC"/>
                <a:ea typeface="Noto Sans CJK SC"/>
              </a:rPr>
              <a:t>= 0 · posthoc_review = false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64"/>
          <p:cNvSpPr/>
          <p:nvPr/>
        </p:nvSpPr>
        <p:spPr>
          <a:xfrm>
            <a:off x="3246120" y="5056560"/>
            <a:ext cx="7223400" cy="420120"/>
          </a:xfrm>
          <a:prstGeom prst="roundRect">
            <a:avLst>
              <a:gd name="adj" fmla="val 17391"/>
            </a:avLst>
          </a:prstGeom>
          <a:solidFill>
            <a:srgbClr val="FFF3E8"/>
          </a:solidFill>
          <a:ln w="1008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5"/>
          <p:cNvSpPr/>
          <p:nvPr/>
        </p:nvSpPr>
        <p:spPr>
          <a:xfrm>
            <a:off x="3493080" y="5212080"/>
            <a:ext cx="6729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预算与边界：正常主链最多接受 </a:t>
            </a:r>
            <a:r>
              <a:rPr lang="en-US" sz="7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20 </a:t>
            </a:r>
            <a:r>
              <a:rPr lang="zh-CN" sz="78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条模型响应；确定性工具结果仍是业务事实。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66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7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output/evidence/agentteams/agentteams-demo-result.json · materials/evidence/AgentTeams_</a:t>
            </a:r>
            <a:r>
              <a:rPr lang="zh-CN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真实运行证据</a:t>
            </a: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.md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68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F"/>
          </a:solidFill>
          <a:ln w="12600">
            <a:solidFill>
              <a:srgbClr val="FBF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F97316"/>
          </a:solidFill>
          <a:ln w="126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"/>
          <p:cNvSpPr/>
          <p:nvPr/>
        </p:nvSpPr>
        <p:spPr>
          <a:xfrm>
            <a:off x="438840" y="3110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Evidence Index · </a:t>
            </a:r>
            <a:r>
              <a:rPr lang="zh-CN" sz="85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主张—指标—文件—复现命令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3"/>
          <p:cNvSpPr/>
          <p:nvPr/>
        </p:nvSpPr>
        <p:spPr>
          <a:xfrm>
            <a:off x="438840" y="5302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关键结论均可从仓库文件定位，并用对应脚本重复验证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"/>
          <p:cNvSpPr/>
          <p:nvPr/>
        </p:nvSpPr>
        <p:spPr>
          <a:xfrm>
            <a:off x="438840" y="1033200"/>
            <a:ext cx="9966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将评审最关心的主张拆成可复跑命令、证据文件和验收指标；提交包检查覆盖必需文件、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UTF-8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名称、</a:t>
            </a:r>
            <a:r>
              <a:rPr lang="en-US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README </a:t>
            </a:r>
            <a:r>
              <a:rPr lang="zh-CN" sz="115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链接和密钥排除。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5"/>
          <p:cNvSpPr/>
          <p:nvPr/>
        </p:nvSpPr>
        <p:spPr>
          <a:xfrm>
            <a:off x="658440" y="1508760"/>
            <a:ext cx="10881000" cy="4224240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0080">
            <a:solidFill>
              <a:srgbClr val="E6ECFA"/>
            </a:solidFill>
            <a:round/>
          </a:ln>
          <a:effectLst>
            <a:outerShdw blurRad="25560" dist="50402" dir="2700000" rotWithShape="0">
              <a:srgbClr val="AAB3C8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6"/>
          <p:cNvSpPr/>
          <p:nvPr/>
        </p:nvSpPr>
        <p:spPr>
          <a:xfrm>
            <a:off x="877680" y="1783080"/>
            <a:ext cx="14169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主张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7"/>
          <p:cNvSpPr/>
          <p:nvPr/>
        </p:nvSpPr>
        <p:spPr>
          <a:xfrm>
            <a:off x="2743200" y="1783080"/>
            <a:ext cx="1874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关键指标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8"/>
          <p:cNvSpPr/>
          <p:nvPr/>
        </p:nvSpPr>
        <p:spPr>
          <a:xfrm>
            <a:off x="5120640" y="1783080"/>
            <a:ext cx="1919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证据文件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9"/>
          <p:cNvSpPr/>
          <p:nvPr/>
        </p:nvSpPr>
        <p:spPr>
          <a:xfrm>
            <a:off x="7452360" y="1783080"/>
            <a:ext cx="16912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复现命令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0"/>
          <p:cNvSpPr/>
          <p:nvPr/>
        </p:nvSpPr>
        <p:spPr>
          <a:xfrm>
            <a:off x="9464040" y="1783080"/>
            <a:ext cx="15541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验收点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1"/>
          <p:cNvSpPr/>
          <p:nvPr/>
        </p:nvSpPr>
        <p:spPr>
          <a:xfrm>
            <a:off x="877680" y="200232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2"/>
          <p:cNvSpPr/>
          <p:nvPr/>
        </p:nvSpPr>
        <p:spPr>
          <a:xfrm>
            <a:off x="877680" y="21031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AgentTeams </a:t>
            </a: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核心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3"/>
          <p:cNvSpPr/>
          <p:nvPr/>
        </p:nvSpPr>
        <p:spPr>
          <a:xfrm>
            <a:off x="2743200" y="210312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11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路由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8 Worker · 20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响应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4"/>
          <p:cNvSpPr/>
          <p:nvPr/>
        </p:nvSpPr>
        <p:spPr>
          <a:xfrm>
            <a:off x="5120640" y="21031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agentteams-demo-result.json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5"/>
          <p:cNvSpPr/>
          <p:nvPr/>
        </p:nvSpPr>
        <p:spPr>
          <a:xfrm>
            <a:off x="7452360" y="21031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export_agentteams_evidence.ps1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6"/>
          <p:cNvSpPr/>
          <p:nvPr/>
        </p:nvSpPr>
        <p:spPr>
          <a:xfrm>
            <a:off x="9464040" y="210312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非事后复核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7"/>
          <p:cNvSpPr/>
          <p:nvPr/>
        </p:nvSpPr>
        <p:spPr>
          <a:xfrm>
            <a:off x="877680" y="249624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8"/>
          <p:cNvSpPr/>
          <p:nvPr/>
        </p:nvSpPr>
        <p:spPr>
          <a:xfrm>
            <a:off x="877680" y="259704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异常恢复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9"/>
          <p:cNvSpPr/>
          <p:nvPr/>
        </p:nvSpPr>
        <p:spPr>
          <a:xfrm>
            <a:off x="2743200" y="25970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INCONCLUSIVE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补选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PAUSED → rev2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0"/>
          <p:cNvSpPr/>
          <p:nvPr/>
        </p:nvSpPr>
        <p:spPr>
          <a:xfrm>
            <a:off x="5120640" y="25970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deterministic-recovery-evidence.json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1"/>
          <p:cNvSpPr/>
          <p:nvPr/>
        </p:nvSpPr>
        <p:spPr>
          <a:xfrm>
            <a:off x="7452360" y="25970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generate_orchestration_recovery_evidence.py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2"/>
          <p:cNvSpPr/>
          <p:nvPr/>
        </p:nvSpPr>
        <p:spPr>
          <a:xfrm>
            <a:off x="9464040" y="259704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旧审批撤销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3"/>
          <p:cNvSpPr/>
          <p:nvPr/>
        </p:nvSpPr>
        <p:spPr>
          <a:xfrm>
            <a:off x="877680" y="298980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4"/>
          <p:cNvSpPr/>
          <p:nvPr/>
        </p:nvSpPr>
        <p:spPr>
          <a:xfrm>
            <a:off x="877680" y="30906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三类事故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5"/>
          <p:cNvSpPr/>
          <p:nvPr/>
        </p:nvSpPr>
        <p:spPr>
          <a:xfrm>
            <a:off x="2743200" y="309060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703/742 · 118/119 · 71/73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6"/>
          <p:cNvSpPr/>
          <p:nvPr/>
        </p:nvSpPr>
        <p:spPr>
          <a:xfrm>
            <a:off x="5120640" y="3090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scenario-summary.json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7"/>
          <p:cNvSpPr/>
          <p:nvPr/>
        </p:nvSpPr>
        <p:spPr>
          <a:xfrm>
            <a:off x="7452360" y="3090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generate_incident_evidence.py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8"/>
          <p:cNvSpPr/>
          <p:nvPr/>
        </p:nvSpPr>
        <p:spPr>
          <a:xfrm>
            <a:off x="9464040" y="309060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均 </a:t>
            </a: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100% </a:t>
            </a: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覆盖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9"/>
          <p:cNvSpPr/>
          <p:nvPr/>
        </p:nvSpPr>
        <p:spPr>
          <a:xfrm>
            <a:off x="877680" y="348372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0"/>
          <p:cNvSpPr/>
          <p:nvPr/>
        </p:nvSpPr>
        <p:spPr>
          <a:xfrm>
            <a:off x="877680" y="35845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Java </a:t>
            </a: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对照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1"/>
          <p:cNvSpPr/>
          <p:nvPr/>
        </p:nvSpPr>
        <p:spPr>
          <a:xfrm>
            <a:off x="2743200" y="358452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正常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3/3 OK ·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退化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3/3 TLE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2"/>
          <p:cNvSpPr/>
          <p:nvPr/>
        </p:nvSpPr>
        <p:spPr>
          <a:xfrm>
            <a:off x="5120640" y="35845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java-runtime-comparison.json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3"/>
          <p:cNvSpPr/>
          <p:nvPr/>
        </p:nvSpPr>
        <p:spPr>
          <a:xfrm>
            <a:off x="7452360" y="3584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run_java_regression_experiment.py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34"/>
          <p:cNvSpPr/>
          <p:nvPr/>
        </p:nvSpPr>
        <p:spPr>
          <a:xfrm>
            <a:off x="9464040" y="358452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相同代码</a:t>
            </a: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时限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5"/>
          <p:cNvSpPr/>
          <p:nvPr/>
        </p:nvSpPr>
        <p:spPr>
          <a:xfrm>
            <a:off x="877680" y="397764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36"/>
          <p:cNvSpPr/>
          <p:nvPr/>
        </p:nvSpPr>
        <p:spPr>
          <a:xfrm>
            <a:off x="877680" y="407808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质量门禁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7"/>
          <p:cNvSpPr/>
          <p:nvPr/>
        </p:nvSpPr>
        <p:spPr>
          <a:xfrm>
            <a:off x="2743200" y="407808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66 tests · Ruff · Vue build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8"/>
          <p:cNvSpPr/>
          <p:nvPr/>
        </p:nvSpPr>
        <p:spPr>
          <a:xfrm>
            <a:off x="5120640" y="40780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tests / frontend / scripts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39"/>
          <p:cNvSpPr/>
          <p:nvPr/>
        </p:nvSpPr>
        <p:spPr>
          <a:xfrm>
            <a:off x="7452360" y="40780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unittest + ruff + npm build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40"/>
          <p:cNvSpPr/>
          <p:nvPr/>
        </p:nvSpPr>
        <p:spPr>
          <a:xfrm>
            <a:off x="9464040" y="407808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本地可复跑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41"/>
          <p:cNvSpPr/>
          <p:nvPr/>
        </p:nvSpPr>
        <p:spPr>
          <a:xfrm>
            <a:off x="877680" y="4471200"/>
            <a:ext cx="10012680" cy="360"/>
          </a:xfrm>
          <a:prstGeom prst="line">
            <a:avLst/>
          </a:prstGeom>
          <a:ln w="7560">
            <a:solidFill>
              <a:srgbClr val="D7D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42"/>
          <p:cNvSpPr/>
          <p:nvPr/>
        </p:nvSpPr>
        <p:spPr>
          <a:xfrm>
            <a:off x="877680" y="45720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60" b="1" u="none" strike="noStrike">
                <a:solidFill>
                  <a:srgbClr val="12172B"/>
                </a:solidFill>
                <a:effectLst/>
                <a:uFillTx/>
                <a:latin typeface="Noto Sans CJK SC"/>
                <a:ea typeface="Noto Sans CJK SC"/>
              </a:rPr>
              <a:t>提交包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3"/>
          <p:cNvSpPr/>
          <p:nvPr/>
        </p:nvSpPr>
        <p:spPr>
          <a:xfrm>
            <a:off x="2743200" y="457200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UTF-8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名称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链接 </a:t>
            </a:r>
            <a:r>
              <a:rPr lang="en-US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640" b="1" u="none" strike="noStrike">
                <a:solidFill>
                  <a:srgbClr val="F97316"/>
                </a:solidFill>
                <a:effectLst/>
                <a:uFillTx/>
                <a:latin typeface="Noto Sans CJK SC"/>
                <a:ea typeface="Noto Sans CJK SC"/>
              </a:rPr>
              <a:t>密钥排除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44"/>
          <p:cNvSpPr/>
          <p:nvPr/>
        </p:nvSpPr>
        <p:spPr>
          <a:xfrm>
            <a:off x="5120640" y="45720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OJGuard_submission.zip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5"/>
          <p:cNvSpPr/>
          <p:nvPr/>
        </p:nvSpPr>
        <p:spPr>
          <a:xfrm>
            <a:off x="7452360" y="45720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verify_submission_package.py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46"/>
          <p:cNvSpPr/>
          <p:nvPr/>
        </p:nvSpPr>
        <p:spPr>
          <a:xfrm>
            <a:off x="9464040" y="457200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不漏 </a:t>
            </a:r>
            <a:r>
              <a:rPr lang="en-US" sz="640" b="0" u="none" strike="noStrike">
                <a:solidFill>
                  <a:srgbClr val="5B647A"/>
                </a:solidFill>
                <a:effectLst/>
                <a:uFillTx/>
                <a:latin typeface="Noto Sans CJK SC"/>
                <a:ea typeface="Noto Sans CJK SC"/>
              </a:rPr>
              <a:t>benchmark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7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19048"/>
            </a:avLst>
          </a:prstGeom>
          <a:solidFill>
            <a:srgbClr val="0B102E"/>
          </a:solidFill>
          <a:ln w="10080">
            <a:solidFill>
              <a:srgbClr val="0B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8"/>
          <p:cNvSpPr/>
          <p:nvPr/>
        </p:nvSpPr>
        <p:spPr>
          <a:xfrm>
            <a:off x="896040" y="6035040"/>
            <a:ext cx="103780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落地路径：旁路读取 → 人工确认 → 控制组</a:t>
            </a: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灰度 → 分批全量 → 接入监控工单与 </a:t>
            </a: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Runbook</a:t>
            </a:r>
            <a:r>
              <a:rPr lang="zh-CN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；</a:t>
            </a: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Apache-2.0 </a:t>
            </a:r>
            <a:r>
              <a:rPr lang="zh-CN" sz="78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开放核心代码与契约。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9"/>
          <p:cNvSpPr/>
          <p:nvPr/>
        </p:nvSpPr>
        <p:spPr>
          <a:xfrm>
            <a:off x="438840" y="6510240"/>
            <a:ext cx="11292840" cy="360"/>
          </a:xfrm>
          <a:prstGeom prst="line">
            <a:avLst/>
          </a:prstGeom>
          <a:ln w="7560">
            <a:solidFill>
              <a:srgbClr val="D7DFF1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0"/>
          <p:cNvSpPr/>
          <p:nvPr/>
        </p:nvSpPr>
        <p:spPr>
          <a:xfrm>
            <a:off x="438840" y="6592680"/>
            <a:ext cx="8960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Sources: README.md · output/evidence/agentteams/ · output/evidence/incidents/ · scripts/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51"/>
          <p:cNvSpPr/>
          <p:nvPr/>
        </p:nvSpPr>
        <p:spPr>
          <a:xfrm>
            <a:off x="11475720" y="65469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390A8"/>
                </a:solidFill>
                <a:effectLst/>
                <a:uFillTx/>
                <a:latin typeface="Noto Sans CJK SC"/>
                <a:ea typeface="Noto Sans CJK SC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1925</Words>
  <Application>Microsoft Office PowerPoint</Application>
  <PresentationFormat>宽屏</PresentationFormat>
  <Paragraphs>353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Noto Sans CJK SC</vt:lpstr>
      <vt:lpstr>Arial</vt:lpstr>
      <vt:lpstr>Symbol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AzusaFish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AzusaFish</cp:lastModifiedBy>
  <cp:revision>1</cp:revision>
  <dcterms:modified xsi:type="dcterms:W3CDTF">2026-08-03T12:30:28Z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2026-08-03T11:54:36Z</dcterms:created>
  <dc:creator>OpenAI</dc:creator>
  <dc:description/>
  <dc:language>en-US</dc:language>
  <cp:lastModifiedBy>OpenAI</cp:lastModifiedBy>
  <dcterms:modified xsi:type="dcterms:W3CDTF">2026-08-03T11:54:36Z</dcterms:modified>
  <cp:revision>1</cp:revision>
  <dc:subject>OJGuard 项目介绍</dc:subject>
  <dc:title>OJGuard | 在线测评事故响应与可信重评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